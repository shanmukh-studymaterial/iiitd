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Characterizing Power Management Opportunities for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Presentation for polca.pdf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Characterizing Power Management Opportunities for</a:t>
            </a:r>
          </a:p>
          <a:p>
            <a:r>
              <a:t>LLMs in the Cloud</a:t>
            </a:r>
          </a:p>
          <a:p>
            <a:r>
              <a:t>Abstract</a:t>
            </a:r>
            <a:br/>
            <a:r>
              <a:t>Recent innovation in large language models (LLMs), and</a:t>
            </a:r>
            <a:br/>
            <a:r>
              <a:t>their myriad use cases have rapidly driven up the compute</a:t>
            </a:r>
            <a:br/>
            <a:r>
              <a:t>demand for datacenter GPUs. Several cloud providers and</a:t>
            </a:r>
            <a:br/>
            <a:r>
              <a:t>other enterprises plan...</a:t>
            </a:r>
          </a:p>
          <a:p>
            <a:r>
              <a:t>∗Pratyush Patel is affiliated with the University of Washington, but was a</a:t>
            </a:r>
            <a:br/>
            <a:r>
              <a:t>Microsoft intern during this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work is licensed under a Creative Commons Attribution International </a:t>
            </a:r>
          </a:p>
          <a:p>
            <a:r>
              <a:t>4.0 License.</a:t>
            </a:r>
          </a:p>
          <a:p>
            <a:r>
              <a:t>ASPLOS ’24, April 27-May 1, 2024, La Jolla, CA, USA</a:t>
            </a:r>
          </a:p>
          <a:p>
            <a:r>
              <a:t>© 2024 Copyright held by the owner/author(s).</a:t>
            </a:r>
          </a:p>
          <a:p>
            <a:r>
              <a:t>ACM ISBN 979-8-...</a:t>
            </a:r>
          </a:p>
          <a:p>
            <a:r>
              <a:t>CCS Concepts: • Computer systems organization →</a:t>
            </a:r>
            <a:br/>
            <a:r>
              <a:t>Cloud computing; • Hardware →Enterprise level and</a:t>
            </a:r>
            <a:br/>
            <a:r>
              <a:t>data centers power issues; • Applied computing →Data</a:t>
            </a:r>
            <a:br/>
            <a:r>
              <a:t>centers; • Information systems →Language models.</a:t>
            </a:r>
          </a:p>
          <a:p>
            <a:r>
              <a:t>Keywords: Large language models, power usage, cloud, dat-</a:t>
            </a:r>
            <a:br/>
            <a:r>
              <a:t>acenters, GPUs, power oversubscription, profiling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ACM Reference Format:</a:t>
            </a:r>
          </a:p>
          <a:p>
            <a:r>
              <a:t>Pratyush Patel, Esha Choukse, Chaojie Zhang, Íñigo Goiri, Brijesh</a:t>
            </a:r>
          </a:p>
          <a:p>
            <a:r>
              <a:t>Warrier, Nithish Mahalingam, and Ricardo Bianchini. 2024. Charac-</a:t>
            </a:r>
          </a:p>
          <a:p>
            <a:r>
              <a:t>terizing Power Management Opportunities for LL...</a:t>
            </a:r>
          </a:p>
          <a:p>
            <a:r>
              <a:t>Motivation. Cloud providers and datacenter operators today</a:t>
            </a:r>
            <a:br/>
            <a:r>
              <a:t>face a massive GPU capacity crunch due to the explosion in</a:t>
            </a:r>
            <a:br/>
            <a:r>
              <a:t>demand for large language models (LLMs) [8]. For example,</a:t>
            </a:r>
            <a:br/>
            <a:r>
              <a:t>OpenAI scaled up their c...</a:t>
            </a:r>
          </a:p>
          <a:p>
            <a:r>
              <a:t>ASPLOS ’24, April 27-May 1, 2024, La Jolla, CA, USA</a:t>
            </a:r>
            <a:br/>
            <a:r>
              <a:t>Patel et 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Figure 1. An example of the prompt and token phases</a:t>
            </a:r>
          </a:p>
          <a:p>
            <a:r>
              <a:t>in a GPT (decoder) model.</a:t>
            </a:r>
          </a:p>
          <a:p>
            <a:r>
              <a:t>Figure 2. Hierarchy of the power</a:t>
            </a:r>
            <a:br/>
            <a:r>
              <a:t>distribution in a datacenter.</a:t>
            </a:r>
          </a:p>
          <a:p>
            <a:r>
              <a:t>level. Specifically, we characterize the power usage patterns</a:t>
            </a:r>
            <a:br/>
            <a:r>
              <a:t>for several popular, open-source LLMs across various con-</a:t>
            </a:r>
            <a:br/>
            <a:r>
              <a:t>figurations representative of common use cases. We also</a:t>
            </a:r>
            <a:br/>
            <a:r>
              <a:t>gauge how amenable both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Summary. We make the following contributions:</a:t>
            </a:r>
          </a:p>
          <a:p>
            <a:r>
              <a:t>• A practical methodology to monitor, control, and analyze</a:t>
            </a:r>
          </a:p>
          <a:p>
            <a:r>
              <a:t>the power usage of cloud LLM workloads.</a:t>
            </a:r>
          </a:p>
          <a:p>
            <a:r>
              <a:t>• A characterization of the power usage patterns of LLM...</a:t>
            </a:r>
          </a:p>
          <a:p>
            <a:r>
              <a:t>• A case study on developing a practical power oversubscrip-</a:t>
            </a:r>
            <a:br/>
            <a:r>
              <a:t>tion framework for cloud-based LLM inference clusters,</a:t>
            </a:r>
            <a:br/>
            <a:r>
              <a:t>supplemented with its evaluation on production traces.</a:t>
            </a:r>
          </a:p>
          <a:p>
            <a:r>
              <a:t>We provide background on LLMs and describe their deploy-</a:t>
            </a:r>
            <a:br/>
            <a:r>
              <a:t>ments at scale in cloud datacenters.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 models. Our work focuses on transformer-</a:t>
            </a:r>
          </a:p>
          <a:p>
            <a:r>
              <a:t>based generative LLMs. Beyond the tokenizer and embedding</a:t>
            </a:r>
          </a:p>
          <a:p>
            <a:r>
              <a:t>layers common in language models, transformers generally</a:t>
            </a:r>
          </a:p>
          <a:p>
            <a:r>
              <a:t>consist of attention and multi-l...</a:t>
            </a:r>
          </a:p>
          <a:p>
            <a:r>
              <a:t>Training vs. inference. Training and inference workloads</a:t>
            </a:r>
            <a:br/>
            <a:r>
              <a:t>have different compute, network, and power requirements.</a:t>
            </a:r>
            <a:br/>
            <a:r>
              <a:t>LLM training is much more resource intensive since the</a:t>
            </a:r>
            <a:br/>
            <a:r>
              <a:t>model is fed a lot of data in p...</a:t>
            </a:r>
          </a:p>
          <a:p>
            <a:r>
              <a:t>Characterizing Power Management Opportunities for LLMs in the Cloud</a:t>
            </a:r>
            <a:br/>
            <a:r>
              <a:t>ASPLOS ’24, April 27-May 1, 2024, La Jolla, CA, USA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 [29], Meta uses separate infrastructure for ML train-</a:t>
            </a:r>
          </a:p>
          <a:p>
            <a:r>
              <a:t>ing and inference [21], and Amazon deploys separate train-</a:t>
            </a:r>
          </a:p>
          <a:p>
            <a:r>
              <a:t>ing and inference chips (Trainium [62] and Inferentia [61]).</a:t>
            </a:r>
          </a:p>
          <a:p>
            <a:r>
              <a:t>In this work, we m...</a:t>
            </a:r>
          </a:p>
          <a:p>
            <a:r>
              <a:t>Configuration knobs.</a:t>
            </a:r>
            <a:br/>
            <a:r>
              <a:t>• Batch size defines the number of requests processed to-</a:t>
            </a:r>
            <a:br/>
            <a:r>
              <a:t>gether. A larger batch size can yield higher throughput.</a:t>
            </a:r>
            <a:br/>
            <a:r>
              <a:t>• Input size defines the length of the prompt sequence.</a:t>
            </a:r>
            <a:br/>
            <a:r>
              <a:t>• Output...</a:t>
            </a:r>
          </a:p>
          <a:p>
            <a:r>
              <a:t>Prompt processing vs. token sampling. Figure 1 shows</a:t>
            </a:r>
            <a:br/>
            <a:r>
              <a:t>the two main phases in an LLM inference: prompt processing</a:t>
            </a:r>
            <a:br/>
            <a:r>
              <a:t>and token sampling. Prompt processing is done in parallel</a:t>
            </a:r>
            <a:br/>
            <a:r>
              <a:t>on the entire input, making it...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offerings. Cloud providers can host LLMs in different</a:t>
            </a:r>
          </a:p>
          <a:p>
            <a:r>
              <a:t>ways in their datacenters. The first approach lets customers</a:t>
            </a:r>
          </a:p>
          <a:p>
            <a:r>
              <a:t>bring their own models which they host using cloud virtual</a:t>
            </a:r>
          </a:p>
          <a:p>
            <a:r>
              <a:t>machine offerings. D...</a:t>
            </a:r>
          </a:p>
          <a:p>
            <a:r>
              <a:t>Power provisioning. A datacenter floor plan is generally</a:t>
            </a:r>
            <a:br/>
            <a:r>
              <a:t>built around the power distribution hierarchy. Figure 2 shows</a:t>
            </a:r>
            <a:br/>
            <a:r>
              <a:t>an example power distribution hierarchy in an LLM clus-</a:t>
            </a:r>
            <a:br/>
            <a:r>
              <a:t>ter, where power distribu...</a:t>
            </a:r>
          </a:p>
          <a:p>
            <a:r>
              <a:t>3</a:t>
            </a:r>
            <a:br/>
            <a:r>
              <a:t>Characterization Methodology</a:t>
            </a:r>
            <a:br/>
            <a:r>
              <a:t>We describe the existing landscape for power monitoring</a:t>
            </a:r>
            <a:br/>
            <a:r>
              <a:t>and control in LLM clusters, cloud-specific challenges, and</a:t>
            </a:r>
            <a:br/>
            <a:r>
              <a:t>our methodology to address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3.1</a:t>
            </a:r>
          </a:p>
          <a:p>
            <a:r>
              <a:t>Power Monitoring</a:t>
            </a:r>
          </a:p>
          <a:p>
            <a:r>
              <a:t>The power usage of a GPU cluster running LLMs can be</a:t>
            </a:r>
          </a:p>
          <a:p>
            <a:r>
              <a:t>monitored at various levels, which present different trade-</a:t>
            </a:r>
          </a:p>
          <a:p>
            <a:r>
              <a:t>offs as shown in Table 1. The coarsest option is to monitor</a:t>
            </a:r>
          </a:p>
          <a:p>
            <a:r>
              <a:t>power ...</a:t>
            </a:r>
          </a:p>
          <a:p>
            <a:r>
              <a:t>CPU knobs. CPUs provide interfaces like IPMI [26] (OOB)</a:t>
            </a:r>
            <a:br/>
            <a:r>
              <a:t>and RAPL [55] (IB), which serve as a fast and reliable mecha-</a:t>
            </a:r>
            <a:br/>
            <a:r>
              <a:t>nisms to control server power [31]. These mechanisms throt-</a:t>
            </a:r>
            <a:br/>
            <a:r>
              <a:t>tle CPU (and optionall...</a:t>
            </a:r>
          </a:p>
          <a:p>
            <a:r>
              <a:t>GPU knobs. GPUs provide IB and OOB interfaces for power</a:t>
            </a:r>
            <a:br/>
            <a:r>
              <a:t>control; however, these are independent of the CPU.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In-band knobs. GPU power can be controlled in-band via</a:t>
            </a:r>
          </a:p>
          <a:p>
            <a:r>
              <a:t>vendor-provided tools to implement frequency locking and</a:t>
            </a:r>
          </a:p>
          <a:p>
            <a:r>
              <a:t>power capping [3, 47]. GPUs expose two clock domains (i.e.,</a:t>
            </a:r>
          </a:p>
          <a:p>
            <a:r>
              <a:t>SM and memory), which impact...</a:t>
            </a:r>
          </a:p>
          <a:p>
            <a:r>
              <a:t>Out-of-band knobs. NVIDIA GPUs support OOB frequency</a:t>
            </a:r>
            <a:br/>
            <a:r>
              <a:t>capping, power capping, and power breaks via SMBPBI [42].</a:t>
            </a:r>
            <a:br/>
            <a:r>
              <a:t>Unlike IB management, OOB frequency caps can configure</a:t>
            </a:r>
            <a:br/>
            <a:r>
              <a:t>the frequency only for SMs. In add...</a:t>
            </a:r>
          </a:p>
          <a:p>
            <a:r>
              <a:t>ASPLOS ’24, April 27-May 1, 2024, La Jolla, CA, USA</a:t>
            </a:r>
            <a:br/>
            <a:r>
              <a:t>Patel et 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- Part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RAPL [30]</a:t>
            </a:r>
          </a:p>
          <a:p>
            <a:r>
              <a:t>CPU &amp; DRAM</a:t>
            </a:r>
          </a:p>
          <a:p>
            <a:r>
              <a:t>IB</a:t>
            </a:r>
          </a:p>
          <a:p>
            <a:r>
              <a:t>1–10ms</a:t>
            </a:r>
          </a:p>
          <a:p>
            <a:r>
              <a:t>DCGM [43]</a:t>
            </a:r>
          </a:p>
          <a:p>
            <a:r>
              <a:t>GPU</a:t>
            </a:r>
          </a:p>
          <a:p>
            <a:r>
              <a:t>IB</a:t>
            </a:r>
          </a:p>
          <a:p>
            <a:r>
              <a:t>100ms+</a:t>
            </a:r>
          </a:p>
          <a:p>
            <a:r>
              <a:t>SMBPBI [42]</a:t>
            </a:r>
          </a:p>
          <a:p>
            <a:r>
              <a:t>GPU</a:t>
            </a:r>
          </a:p>
          <a:p>
            <a:r>
              <a:t>OOB</a:t>
            </a:r>
          </a:p>
          <a:p>
            <a:r>
              <a:t>5s+</a:t>
            </a:r>
          </a:p>
          <a:p>
            <a:r>
              <a:t>IPMI [26]</a:t>
            </a:r>
          </a:p>
          <a:p>
            <a:r>
              <a:t>Server</a:t>
            </a:r>
          </a:p>
          <a:p>
            <a:r>
              <a:t>OOB</a:t>
            </a:r>
          </a:p>
          <a:p>
            <a:r>
              <a:t>1–5s</a:t>
            </a:r>
          </a:p>
          <a:p>
            <a:r>
              <a:t>Row manager</a:t>
            </a:r>
          </a:p>
          <a:p>
            <a:r>
              <a:t>Row of racks</a:t>
            </a:r>
          </a:p>
          <a:p>
            <a:r>
              <a:t>OOB</a:t>
            </a:r>
          </a:p>
          <a:p>
            <a:r>
              <a:t>2s</a:t>
            </a:r>
          </a:p>
          <a:p>
            <a:r>
              <a:t>Table 1. Power monitoring interfaces</a:t>
            </a:r>
          </a:p>
          <a:p>
            <a:r>
              <a:t>in an LLM cluster.</a:t>
            </a:r>
          </a:p>
          <a:p>
            <a:r>
              <a:t>Number of servers</a:t>
            </a:r>
            <a:br/>
            <a:r>
              <a:t>40</a:t>
            </a:r>
            <a:br/>
            <a:r>
              <a:t>Server type</a:t>
            </a:r>
            <a:br/>
            <a:r>
              <a:t>DGX-A100</a:t>
            </a:r>
            <a:br/>
            <a:r>
              <a:t>Power telemetry delay</a:t>
            </a:r>
            <a:br/>
            <a:r>
              <a:t>2s</a:t>
            </a:r>
            <a:br/>
            <a:r>
              <a:t>Power brake latency</a:t>
            </a:r>
            <a:br/>
            <a:r>
              <a:t>5s</a:t>
            </a:r>
            <a:br/>
            <a:r>
              <a:t>OOB control latency</a:t>
            </a:r>
            <a:br/>
            <a:r>
              <a:t>40s</a:t>
            </a:r>
            <a:br/>
            <a:r>
              <a:t>Table 2. Row-level parameters</a:t>
            </a:r>
            <a:br/>
            <a:r>
              <a:t>in our study.</a:t>
            </a:r>
          </a:p>
          <a:p>
            <a:r>
              <a:t>Encoder</a:t>
            </a:r>
            <a:br/>
            <a:r>
              <a:t>RoBERTa</a:t>
            </a:r>
            <a:br/>
            <a:r>
              <a:t>355M</a:t>
            </a:r>
            <a:br/>
            <a:r>
              <a:t>1</a:t>
            </a:r>
            <a:br/>
            <a:r>
              <a:t>Decoder</a:t>
            </a:r>
            <a:br/>
            <a:r>
              <a:t>Llama2*</a:t>
            </a:r>
            <a:br/>
            <a:r>
              <a:t>13B, 70B</a:t>
            </a:r>
            <a:br/>
            <a:r>
              <a:t>1, 2, 4</a:t>
            </a:r>
            <a:br/>
            <a:r>
              <a:t>GPT-NeoX</a:t>
            </a:r>
            <a:br/>
            <a:r>
              <a:t>20B</a:t>
            </a:r>
            <a:br/>
            <a:r>
              <a:t>2</a:t>
            </a:r>
            <a:br/>
            <a:r>
              <a:t>OPT*</a:t>
            </a:r>
            <a:br/>
            <a:r>
              <a:t>30B</a:t>
            </a:r>
            <a:br/>
            <a:r>
              <a:t>4</a:t>
            </a:r>
            <a:br/>
            <a:r>
              <a:t>BLOOM*</a:t>
            </a:r>
            <a:br/>
            <a:r>
              <a:t>176B</a:t>
            </a:r>
            <a:br/>
            <a:r>
              <a:t>8</a:t>
            </a:r>
            <a:br/>
            <a:r>
              <a:t>Encoder-Decoder</a:t>
            </a:r>
            <a:br/>
            <a:r>
              <a:t>Flan-T5 XXL</a:t>
            </a:r>
            <a:br/>
            <a:r>
              <a:t>11B</a:t>
            </a:r>
            <a:br/>
            <a:r>
              <a:t>1</a:t>
            </a:r>
            <a:br/>
            <a:r>
              <a:t>Table 3. LLM workloads that we characterize</a:t>
            </a:r>
            <a:br/>
            <a:r>
              <a:t>(*inference only).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1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306748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4494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28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