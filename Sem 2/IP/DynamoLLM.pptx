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04b980107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e04b98010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e04b980107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e04b980107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e04b980107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e04b980107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e04b980107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e04b980107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e04b980107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e04b980107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04b980107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e04b980107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e04b980107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e04b980107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e04b980107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e04b980107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e04b980107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e04b980107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e04b980107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e04b980107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e04b980107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e04b980107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e04b980107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e04b980107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e04b980107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e04b980107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e04b980107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e04b980107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1156875"/>
            <a:ext cx="8520600" cy="244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980">
                <a:solidFill>
                  <a:srgbClr val="980000"/>
                </a:solidFill>
              </a:rPr>
              <a:t>DynamoLLM: Designing LLM Inference Clusters for Performance and Energy Efficiency </a:t>
            </a:r>
            <a:endParaRPr b="1" sz="3980">
              <a:solidFill>
                <a:srgbClr val="980000"/>
              </a:solidFill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4912725" y="3740000"/>
            <a:ext cx="40095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5B0F00"/>
                </a:solidFill>
              </a:rPr>
              <a:t>Agithe Yeshwanth   - MT25059</a:t>
            </a:r>
            <a:endParaRPr b="1" sz="2000">
              <a:solidFill>
                <a:srgbClr val="5B0F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623400" y="270700"/>
            <a:ext cx="8520600" cy="98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solidFill>
                  <a:srgbClr val="783F04"/>
                </a:solidFill>
              </a:rPr>
              <a:t>Datacenter energy management for Generative Large Language Model (LLM) serving.</a:t>
            </a:r>
            <a:endParaRPr b="1" u="sng">
              <a:solidFill>
                <a:srgbClr val="783F04"/>
              </a:solidFill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394650"/>
            <a:ext cx="8520600" cy="351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Char char="●"/>
            </a:pPr>
            <a:r>
              <a:rPr b="1" lang="en">
                <a:solidFill>
                  <a:srgbClr val="434343"/>
                </a:solidFill>
              </a:rPr>
              <a:t>Prefill vs. Decode Phases: </a:t>
            </a:r>
            <a:r>
              <a:rPr lang="en">
                <a:solidFill>
                  <a:srgbClr val="434343"/>
                </a:solidFill>
              </a:rPr>
              <a:t>LLM phases—processing input (compute-heavy) vs. generating output (memory-heavy).</a:t>
            </a:r>
            <a:endParaRPr>
              <a:solidFill>
                <a:srgbClr val="434343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434343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Char char="●"/>
            </a:pPr>
            <a:r>
              <a:rPr b="1" lang="en">
                <a:solidFill>
                  <a:srgbClr val="434343"/>
                </a:solidFill>
              </a:rPr>
              <a:t>TTFT &amp; TBT: </a:t>
            </a:r>
            <a:r>
              <a:rPr lang="en">
                <a:solidFill>
                  <a:srgbClr val="434343"/>
                </a:solidFill>
              </a:rPr>
              <a:t>Metrics for speed—Time to First Token and Time Between Tokens.</a:t>
            </a:r>
            <a:endParaRPr>
              <a:solidFill>
                <a:srgbClr val="434343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434343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Char char="●"/>
            </a:pPr>
            <a:r>
              <a:rPr b="1" lang="en">
                <a:solidFill>
                  <a:srgbClr val="434343"/>
                </a:solidFill>
              </a:rPr>
              <a:t>Tensor Parallelism (TP): </a:t>
            </a:r>
            <a:r>
              <a:rPr lang="en">
                <a:solidFill>
                  <a:srgbClr val="434343"/>
                </a:solidFill>
              </a:rPr>
              <a:t>Splitting one model across multiple GPUs (e.g., TP4, TP8).</a:t>
            </a:r>
            <a:endParaRPr>
              <a:solidFill>
                <a:srgbClr val="434343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434343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Char char="●"/>
            </a:pPr>
            <a:r>
              <a:rPr b="1" lang="en">
                <a:solidFill>
                  <a:srgbClr val="434343"/>
                </a:solidFill>
              </a:rPr>
              <a:t>SLO (Service Level Objective): </a:t>
            </a:r>
            <a:r>
              <a:rPr lang="en">
                <a:solidFill>
                  <a:srgbClr val="434343"/>
                </a:solidFill>
              </a:rPr>
              <a:t>Service Level Objective (strict latency deadlines).</a:t>
            </a:r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80100" y="2865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520" u="sng">
                <a:solidFill>
                  <a:srgbClr val="783F04"/>
                </a:solidFill>
              </a:rPr>
              <a:t>Problem</a:t>
            </a:r>
            <a:endParaRPr b="1" sz="3520" u="sng">
              <a:solidFill>
                <a:srgbClr val="783F04"/>
              </a:solidFill>
            </a:endParaRPr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560000" y="12951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Char char="●"/>
            </a:pPr>
            <a:r>
              <a:rPr b="1" lang="en" sz="1900">
                <a:solidFill>
                  <a:srgbClr val="434343"/>
                </a:solidFill>
              </a:rPr>
              <a:t>The Problem: </a:t>
            </a:r>
            <a:r>
              <a:rPr lang="en" sz="1900">
                <a:solidFill>
                  <a:srgbClr val="434343"/>
                </a:solidFill>
              </a:rPr>
              <a:t>Static configurations of the LLM clusters are used in order to cater to peak loads.</a:t>
            </a:r>
            <a:endParaRPr sz="1900">
              <a:solidFill>
                <a:srgbClr val="434343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434343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Char char="●"/>
            </a:pPr>
            <a:r>
              <a:rPr b="1" lang="en" sz="1900">
                <a:solidFill>
                  <a:srgbClr val="434343"/>
                </a:solidFill>
              </a:rPr>
              <a:t>Reality Check: </a:t>
            </a:r>
            <a:r>
              <a:rPr lang="en" sz="1900">
                <a:solidFill>
                  <a:srgbClr val="434343"/>
                </a:solidFill>
              </a:rPr>
              <a:t>Traffic on LLMs is extremely dynamic and heterogeneous in nature.</a:t>
            </a:r>
            <a:endParaRPr sz="1900">
              <a:solidFill>
                <a:srgbClr val="434343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434343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Char char="●"/>
            </a:pPr>
            <a:r>
              <a:rPr b="1" lang="en" sz="1900">
                <a:solidFill>
                  <a:srgbClr val="434343"/>
                </a:solidFill>
              </a:rPr>
              <a:t>Outcome: </a:t>
            </a:r>
            <a:r>
              <a:rPr lang="en" sz="1900">
                <a:solidFill>
                  <a:srgbClr val="434343"/>
                </a:solidFill>
              </a:rPr>
              <a:t>Significant waste of energy.</a:t>
            </a:r>
            <a:endParaRPr sz="19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90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80075" y="286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520" u="sng">
                <a:solidFill>
                  <a:srgbClr val="783F04"/>
                </a:solidFill>
              </a:rPr>
              <a:t>Motivation</a:t>
            </a:r>
            <a:endParaRPr b="1" sz="3520" u="sng">
              <a:solidFill>
                <a:srgbClr val="783F04"/>
              </a:solidFill>
            </a:endParaRPr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2000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Char char="●"/>
            </a:pPr>
            <a:r>
              <a:rPr b="1" lang="en" sz="2200">
                <a:solidFill>
                  <a:srgbClr val="434343"/>
                </a:solidFill>
              </a:rPr>
              <a:t>Scale: </a:t>
            </a:r>
            <a:r>
              <a:rPr lang="en" sz="2200">
                <a:solidFill>
                  <a:srgbClr val="434343"/>
                </a:solidFill>
              </a:rPr>
              <a:t>Millions of queries are processed by LLMs each day.</a:t>
            </a:r>
            <a:endParaRPr sz="2200">
              <a:solidFill>
                <a:srgbClr val="434343"/>
              </a:solidFill>
            </a:endParaRPr>
          </a:p>
          <a:p>
            <a:pPr indent="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434343"/>
              </a:solidFill>
            </a:endParaRPr>
          </a:p>
          <a:p>
            <a:pPr indent="-36830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rgbClr val="434343"/>
              </a:buClr>
              <a:buSzPts val="2200"/>
              <a:buChar char="●"/>
            </a:pPr>
            <a:r>
              <a:rPr b="1" lang="en" sz="2200">
                <a:solidFill>
                  <a:srgbClr val="434343"/>
                </a:solidFill>
              </a:rPr>
              <a:t>Consequences: </a:t>
            </a:r>
            <a:r>
              <a:rPr lang="en" sz="2200">
                <a:solidFill>
                  <a:srgbClr val="434343"/>
                </a:solidFill>
              </a:rPr>
              <a:t>GPUs account for the majority of the datacenter’s electricity consumption, and operating these GPUs inefficiently results in significant greenhouse gases.</a:t>
            </a:r>
            <a:endParaRPr sz="2200">
              <a:solidFill>
                <a:srgbClr val="434343"/>
              </a:solidFill>
            </a:endParaRPr>
          </a:p>
          <a:p>
            <a:pPr indent="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434343"/>
              </a:solidFill>
            </a:endParaRPr>
          </a:p>
          <a:p>
            <a:pPr indent="-36830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rgbClr val="434343"/>
              </a:buClr>
              <a:buSzPts val="2200"/>
              <a:buChar char="●"/>
            </a:pPr>
            <a:r>
              <a:rPr b="1" lang="en" sz="2200">
                <a:solidFill>
                  <a:srgbClr val="434343"/>
                </a:solidFill>
              </a:rPr>
              <a:t>Objectives: </a:t>
            </a:r>
            <a:r>
              <a:rPr lang="en" sz="2200">
                <a:solidFill>
                  <a:srgbClr val="434343"/>
                </a:solidFill>
              </a:rPr>
              <a:t>To reduce costs and carbon footprint without compromising user deadlines.</a:t>
            </a:r>
            <a:endParaRPr sz="2200">
              <a:solidFill>
                <a:srgbClr val="434343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20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739575" y="239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020" u="sng">
                <a:solidFill>
                  <a:srgbClr val="783F04"/>
                </a:solidFill>
              </a:rPr>
              <a:t>State of the Art (SOTA) &amp; Related Work</a:t>
            </a:r>
            <a:endParaRPr b="1" sz="3020" u="sng">
              <a:solidFill>
                <a:srgbClr val="783F04"/>
              </a:solidFill>
            </a:endParaRPr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90950" y="13743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100"/>
              <a:buChar char="●"/>
            </a:pPr>
            <a:r>
              <a:rPr b="1" lang="en" sz="2100">
                <a:solidFill>
                  <a:srgbClr val="434343"/>
                </a:solidFill>
              </a:rPr>
              <a:t>Existing Approaches for LLM: </a:t>
            </a:r>
            <a:r>
              <a:rPr lang="en" sz="2100">
                <a:solidFill>
                  <a:srgbClr val="434343"/>
                </a:solidFill>
              </a:rPr>
              <a:t>They consider only efficiency and latency (neglecting power).</a:t>
            </a:r>
            <a:endParaRPr sz="2100">
              <a:solidFill>
                <a:srgbClr val="434343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43434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434343"/>
              </a:solidFill>
            </a:endParaRPr>
          </a:p>
          <a:p>
            <a:pPr indent="-3619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100"/>
              <a:buChar char="●"/>
            </a:pPr>
            <a:r>
              <a:rPr b="1" lang="en" sz="2100">
                <a:solidFill>
                  <a:srgbClr val="434343"/>
                </a:solidFill>
              </a:rPr>
              <a:t>Power Optimization Frameworks: </a:t>
            </a:r>
            <a:r>
              <a:rPr lang="en" sz="2100">
                <a:solidFill>
                  <a:srgbClr val="434343"/>
                </a:solidFill>
              </a:rPr>
              <a:t>Existing GPU approaches optimize just frequency (missing relevant knobs).</a:t>
            </a:r>
            <a:endParaRPr i="1" sz="2100">
              <a:solidFill>
                <a:srgbClr val="434343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100">
              <a:solidFill>
                <a:srgbClr val="434343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100">
              <a:solidFill>
                <a:srgbClr val="434343"/>
              </a:solidFill>
            </a:endParaRPr>
          </a:p>
          <a:p>
            <a:pPr indent="-3619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100"/>
              <a:buChar char="●"/>
            </a:pPr>
            <a:r>
              <a:rPr b="1" lang="en" sz="2100">
                <a:solidFill>
                  <a:srgbClr val="434343"/>
                </a:solidFill>
              </a:rPr>
              <a:t>Baseline Approach ("Single Pool"): </a:t>
            </a:r>
            <a:r>
              <a:rPr lang="en" sz="2100">
                <a:solidFill>
                  <a:srgbClr val="434343"/>
                </a:solidFill>
              </a:rPr>
              <a:t>Allocating sufficient high-performance servers for handling peak demands.</a:t>
            </a:r>
            <a:endParaRPr i="1" sz="210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2102475" y="2865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520">
                <a:solidFill>
                  <a:srgbClr val="783F04"/>
                </a:solidFill>
              </a:rPr>
              <a:t>The Research Gap</a:t>
            </a:r>
            <a:endParaRPr b="1" sz="3520">
              <a:solidFill>
                <a:srgbClr val="783F04"/>
              </a:solidFill>
            </a:endParaRPr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549400" y="12475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Char char="➢"/>
            </a:pPr>
            <a:r>
              <a:rPr b="1" lang="en">
                <a:solidFill>
                  <a:srgbClr val="434343"/>
                </a:solidFill>
              </a:rPr>
              <a:t>Lack of Focus: </a:t>
            </a:r>
            <a:r>
              <a:rPr lang="en">
                <a:solidFill>
                  <a:srgbClr val="434343"/>
                </a:solidFill>
              </a:rPr>
              <a:t>There is no current approach that specifically focuses on optimizing energy usage while running LLM services.</a:t>
            </a:r>
            <a:endParaRPr>
              <a:solidFill>
                <a:srgbClr val="434343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434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Char char="➢"/>
            </a:pPr>
            <a:r>
              <a:rPr b="1" lang="en">
                <a:solidFill>
                  <a:srgbClr val="434343"/>
                </a:solidFill>
              </a:rPr>
              <a:t>Problem of Complex Search Space: </a:t>
            </a:r>
            <a:r>
              <a:rPr lang="en">
                <a:solidFill>
                  <a:srgbClr val="434343"/>
                </a:solidFill>
              </a:rPr>
              <a:t>It is too complicated to optimize tuning, parallelism, and frequency at once.</a:t>
            </a:r>
            <a:endParaRPr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434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Char char="➢"/>
            </a:pPr>
            <a:r>
              <a:rPr b="1" lang="en">
                <a:solidFill>
                  <a:srgbClr val="434343"/>
                </a:solidFill>
              </a:rPr>
              <a:t>High Reconfiguration Cost: </a:t>
            </a:r>
            <a:r>
              <a:rPr lang="en">
                <a:solidFill>
                  <a:srgbClr val="434343"/>
                </a:solidFill>
              </a:rPr>
              <a:t>Conventional approaches like autoscaling require minutes and affect ongoing connections.</a:t>
            </a:r>
            <a:endParaRPr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700" y="263325"/>
            <a:ext cx="5314950" cy="2724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53600" y="3060625"/>
            <a:ext cx="5554820" cy="196215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9"/>
          <p:cNvSpPr txBox="1"/>
          <p:nvPr/>
        </p:nvSpPr>
        <p:spPr>
          <a:xfrm>
            <a:off x="5736800" y="644250"/>
            <a:ext cx="3312000" cy="19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500" u="sng">
                <a:solidFill>
                  <a:srgbClr val="783F04"/>
                </a:solidFill>
              </a:rPr>
              <a:t>Key Workload Insights</a:t>
            </a:r>
            <a:endParaRPr b="1" sz="3500" u="sng">
              <a:solidFill>
                <a:srgbClr val="783F04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500" u="sng">
              <a:solidFill>
                <a:srgbClr val="783F0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1706275" y="302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500" u="sng">
                <a:solidFill>
                  <a:srgbClr val="783F04"/>
                </a:solidFill>
              </a:rPr>
              <a:t>Key Workload Insights</a:t>
            </a:r>
            <a:endParaRPr b="1" sz="3500" u="sng">
              <a:solidFill>
                <a:srgbClr val="783F04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3500" u="sng">
              <a:solidFill>
                <a:srgbClr val="783F04"/>
              </a:solidFill>
            </a:endParaRPr>
          </a:p>
        </p:txBody>
      </p:sp>
      <p:sp>
        <p:nvSpPr>
          <p:cNvPr id="98" name="Google Shape;98;p20"/>
          <p:cNvSpPr txBox="1"/>
          <p:nvPr>
            <p:ph idx="1" type="body"/>
          </p:nvPr>
        </p:nvSpPr>
        <p:spPr>
          <a:xfrm>
            <a:off x="311700" y="12475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100"/>
              <a:buChar char="➢"/>
            </a:pPr>
            <a:r>
              <a:rPr b="1" lang="en" sz="2100">
                <a:solidFill>
                  <a:srgbClr val="434343"/>
                </a:solidFill>
                <a:highlight>
                  <a:srgbClr val="FFFFFF"/>
                </a:highlight>
              </a:rPr>
              <a:t>Heterogeneity: </a:t>
            </a:r>
            <a:r>
              <a:rPr lang="en" sz="2100">
                <a:solidFill>
                  <a:srgbClr val="434343"/>
                </a:solidFill>
                <a:highlight>
                  <a:srgbClr val="FFFFFF"/>
                </a:highlight>
              </a:rPr>
              <a:t>Short requests require few GPUs and low frequencies, while long requests require full utilization.</a:t>
            </a:r>
            <a:endParaRPr sz="2100">
              <a:solidFill>
                <a:srgbClr val="434343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434343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100"/>
              <a:buChar char="➢"/>
            </a:pPr>
            <a:r>
              <a:rPr b="1" lang="en" sz="2100">
                <a:solidFill>
                  <a:srgbClr val="434343"/>
                </a:solidFill>
              </a:rPr>
              <a:t>Dynamicity: </a:t>
            </a:r>
            <a:r>
              <a:rPr lang="en" sz="2100">
                <a:solidFill>
                  <a:srgbClr val="434343"/>
                </a:solidFill>
              </a:rPr>
              <a:t>Daily fluctuations lead to significant "idle time" for energy conservation.</a:t>
            </a:r>
            <a:endParaRPr sz="2100">
              <a:solidFill>
                <a:srgbClr val="434343"/>
              </a:solidFill>
              <a:highlight>
                <a:srgbClr val="FFFFFF"/>
              </a:highlight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434343"/>
              </a:solidFill>
              <a:highlight>
                <a:srgbClr val="FFFFFF"/>
              </a:highlight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100"/>
              <a:buChar char="➢"/>
            </a:pPr>
            <a:r>
              <a:rPr b="1" lang="en" sz="2100">
                <a:solidFill>
                  <a:srgbClr val="434343"/>
                </a:solidFill>
              </a:rPr>
              <a:t>Energy Proportionality: </a:t>
            </a:r>
            <a:r>
              <a:rPr lang="en" sz="2100">
                <a:solidFill>
                  <a:srgbClr val="434343"/>
                </a:solidFill>
              </a:rPr>
              <a:t>An idle GPU still consumes lots of energy (e.g., up to 550 W).</a:t>
            </a:r>
            <a:endParaRPr sz="21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210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34950"/>
            <a:ext cx="8839199" cy="3187641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1"/>
          <p:cNvSpPr txBox="1"/>
          <p:nvPr/>
        </p:nvSpPr>
        <p:spPr>
          <a:xfrm>
            <a:off x="2076025" y="269400"/>
            <a:ext cx="58161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" sz="3120" u="sng">
                <a:solidFill>
                  <a:srgbClr val="783F04"/>
                </a:solidFill>
              </a:rPr>
              <a:t>DynamoLLM Architecture</a:t>
            </a:r>
            <a:endParaRPr b="1" sz="3120" u="sng">
              <a:solidFill>
                <a:srgbClr val="783F0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"/>
          <p:cNvSpPr txBox="1"/>
          <p:nvPr>
            <p:ph type="title"/>
          </p:nvPr>
        </p:nvSpPr>
        <p:spPr>
          <a:xfrm>
            <a:off x="129425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120" u="sng">
                <a:solidFill>
                  <a:srgbClr val="783F04"/>
                </a:solidFill>
              </a:rPr>
              <a:t>DynamoLLM Architecture</a:t>
            </a:r>
            <a:endParaRPr b="1" sz="3120" u="sng">
              <a:solidFill>
                <a:srgbClr val="783F04"/>
              </a:solidFill>
            </a:endParaRPr>
          </a:p>
        </p:txBody>
      </p:sp>
      <p:sp>
        <p:nvSpPr>
          <p:cNvPr id="110" name="Google Shape;110;p22"/>
          <p:cNvSpPr txBox="1"/>
          <p:nvPr>
            <p:ph idx="1" type="body"/>
          </p:nvPr>
        </p:nvSpPr>
        <p:spPr>
          <a:xfrm>
            <a:off x="142650" y="1437750"/>
            <a:ext cx="8858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Char char="●"/>
            </a:pPr>
            <a:r>
              <a:rPr b="1" lang="en">
                <a:solidFill>
                  <a:srgbClr val="434343"/>
                </a:solidFill>
              </a:rPr>
              <a:t>Summary: </a:t>
            </a:r>
            <a:r>
              <a:rPr lang="en">
                <a:solidFill>
                  <a:srgbClr val="434343"/>
                </a:solidFill>
              </a:rPr>
              <a:t>The initial framework for automated energy management of LLM clusters.</a:t>
            </a:r>
            <a:endParaRPr>
              <a:solidFill>
                <a:srgbClr val="434343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43434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Char char="●"/>
            </a:pPr>
            <a:r>
              <a:rPr b="1" lang="en">
                <a:solidFill>
                  <a:srgbClr val="434343"/>
                </a:solidFill>
              </a:rPr>
              <a:t>Classification: </a:t>
            </a:r>
            <a:r>
              <a:rPr lang="en">
                <a:solidFill>
                  <a:srgbClr val="434343"/>
                </a:solidFill>
              </a:rPr>
              <a:t>Categorizes requests into separate pools depending on expected I/O size.</a:t>
            </a:r>
            <a:endParaRPr>
              <a:solidFill>
                <a:srgbClr val="434343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434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Char char="●"/>
            </a:pPr>
            <a:r>
              <a:rPr b="1" lang="en">
                <a:solidFill>
                  <a:srgbClr val="434343"/>
                </a:solidFill>
              </a:rPr>
              <a:t>Hierarchical Cluster: Increases/Decreases server nodes.</a:t>
            </a:r>
            <a:endParaRPr b="1">
              <a:solidFill>
                <a:srgbClr val="434343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Char char="○"/>
            </a:pPr>
            <a:r>
              <a:rPr b="1" lang="en" sz="1800">
                <a:solidFill>
                  <a:srgbClr val="434343"/>
                </a:solidFill>
              </a:rPr>
              <a:t>Pools: </a:t>
            </a:r>
            <a:r>
              <a:rPr lang="en" sz="1800">
                <a:solidFill>
                  <a:srgbClr val="434343"/>
                </a:solidFill>
              </a:rPr>
              <a:t>Changes the TP ratio (TP2, TP4, TP8)</a:t>
            </a:r>
            <a:endParaRPr sz="1800">
              <a:solidFill>
                <a:srgbClr val="434343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Char char="○"/>
            </a:pPr>
            <a:r>
              <a:rPr b="1" lang="en" sz="1800">
                <a:solidFill>
                  <a:srgbClr val="434343"/>
                </a:solidFill>
              </a:rPr>
              <a:t>Instances: </a:t>
            </a:r>
            <a:r>
              <a:rPr lang="en" sz="1800">
                <a:solidFill>
                  <a:srgbClr val="434343"/>
                </a:solidFill>
              </a:rPr>
              <a:t>Changes the frequency of GPU usage depending on load.</a:t>
            </a:r>
            <a:endParaRPr sz="18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0300" y="152400"/>
            <a:ext cx="3754997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3"/>
          <p:cNvSpPr txBox="1"/>
          <p:nvPr/>
        </p:nvSpPr>
        <p:spPr>
          <a:xfrm>
            <a:off x="5340625" y="1430700"/>
            <a:ext cx="4405500" cy="28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" sz="3020" u="sng">
                <a:solidFill>
                  <a:srgbClr val="783F04"/>
                </a:solidFill>
              </a:rPr>
              <a:t>Hiding the Reconfiguration Overheads</a:t>
            </a:r>
            <a:endParaRPr b="1" sz="3020" u="sng">
              <a:solidFill>
                <a:srgbClr val="783F0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4"/>
          <p:cNvSpPr txBox="1"/>
          <p:nvPr>
            <p:ph type="title"/>
          </p:nvPr>
        </p:nvSpPr>
        <p:spPr>
          <a:xfrm>
            <a:off x="1167450" y="302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020" u="sng">
                <a:solidFill>
                  <a:srgbClr val="783F04"/>
                </a:solidFill>
              </a:rPr>
              <a:t>Hiding the Reconfiguration Overheads</a:t>
            </a:r>
            <a:endParaRPr b="1" sz="3020" u="sng">
              <a:solidFill>
                <a:srgbClr val="783F04"/>
              </a:solidFill>
            </a:endParaRPr>
          </a:p>
        </p:txBody>
      </p:sp>
      <p:sp>
        <p:nvSpPr>
          <p:cNvPr id="122" name="Google Shape;122;p24"/>
          <p:cNvSpPr txBox="1"/>
          <p:nvPr>
            <p:ph idx="1" type="body"/>
          </p:nvPr>
        </p:nvSpPr>
        <p:spPr>
          <a:xfrm>
            <a:off x="454325" y="15011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Char char="●"/>
            </a:pPr>
            <a:r>
              <a:rPr b="1" lang="en" sz="2000">
                <a:solidFill>
                  <a:srgbClr val="434343"/>
                </a:solidFill>
              </a:rPr>
              <a:t>VM Scaling:</a:t>
            </a:r>
            <a:r>
              <a:rPr lang="en" sz="2000">
                <a:solidFill>
                  <a:srgbClr val="434343"/>
                </a:solidFill>
              </a:rPr>
              <a:t> Pre-warms VMs in the background before traffic spikes hit.</a:t>
            </a:r>
            <a:endParaRPr sz="2000">
              <a:solidFill>
                <a:srgbClr val="43434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434343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Char char="●"/>
            </a:pPr>
            <a:r>
              <a:rPr b="1" lang="en" sz="2000">
                <a:solidFill>
                  <a:srgbClr val="434343"/>
                </a:solidFill>
              </a:rPr>
              <a:t>Smart Re-sharding:</a:t>
            </a:r>
            <a:r>
              <a:rPr lang="en" sz="2000">
                <a:solidFill>
                  <a:srgbClr val="434343"/>
                </a:solidFill>
              </a:rPr>
              <a:t> Uses an algorithm to keep model weights stationary, moving the rest directly via high-speed NVLink.</a:t>
            </a:r>
            <a:endParaRPr sz="2000">
              <a:solidFill>
                <a:srgbClr val="434343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434343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Char char="●"/>
            </a:pPr>
            <a:r>
              <a:rPr b="1" lang="en" sz="2000">
                <a:solidFill>
                  <a:srgbClr val="434343"/>
                </a:solidFill>
              </a:rPr>
              <a:t>Frequency Tuning:</a:t>
            </a:r>
            <a:r>
              <a:rPr lang="en" sz="2000">
                <a:solidFill>
                  <a:srgbClr val="434343"/>
                </a:solidFill>
              </a:rPr>
              <a:t> Keeps the NVIDIA interface in memory to change clock speeds in milliseconds.</a:t>
            </a:r>
            <a:endParaRPr sz="20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200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8750" y="166688"/>
            <a:ext cx="5372100" cy="481012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5"/>
          <p:cNvSpPr txBox="1"/>
          <p:nvPr/>
        </p:nvSpPr>
        <p:spPr>
          <a:xfrm>
            <a:off x="6180525" y="950850"/>
            <a:ext cx="2709900" cy="29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500">
                <a:solidFill>
                  <a:srgbClr val="783F04"/>
                </a:solidFill>
              </a:rPr>
              <a:t>Evaluation &amp; Results</a:t>
            </a:r>
            <a:endParaRPr b="1" sz="3500">
              <a:solidFill>
                <a:srgbClr val="783F04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500">
              <a:solidFill>
                <a:srgbClr val="783F0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6"/>
          <p:cNvSpPr txBox="1"/>
          <p:nvPr>
            <p:ph type="title"/>
          </p:nvPr>
        </p:nvSpPr>
        <p:spPr>
          <a:xfrm>
            <a:off x="1833050" y="2707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500" u="sng">
                <a:solidFill>
                  <a:srgbClr val="783F04"/>
                </a:solidFill>
              </a:rPr>
              <a:t>Evaluation &amp; Results</a:t>
            </a:r>
            <a:endParaRPr b="1" sz="3500" u="sng">
              <a:solidFill>
                <a:srgbClr val="783F04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3500" u="sng">
              <a:solidFill>
                <a:srgbClr val="783F04"/>
              </a:solidFill>
            </a:endParaRPr>
          </a:p>
        </p:txBody>
      </p:sp>
      <p:sp>
        <p:nvSpPr>
          <p:cNvPr id="134" name="Google Shape;134;p26"/>
          <p:cNvSpPr txBox="1"/>
          <p:nvPr>
            <p:ph idx="1" type="body"/>
          </p:nvPr>
        </p:nvSpPr>
        <p:spPr>
          <a:xfrm>
            <a:off x="311700" y="15803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Char char="➢"/>
            </a:pPr>
            <a:r>
              <a:rPr b="1" lang="en" sz="1900">
                <a:solidFill>
                  <a:srgbClr val="434343"/>
                </a:solidFill>
              </a:rPr>
              <a:t>Energy &amp; Carbon Footprint: </a:t>
            </a:r>
            <a:r>
              <a:rPr lang="en" sz="1900">
                <a:solidFill>
                  <a:srgbClr val="434343"/>
                </a:solidFill>
              </a:rPr>
              <a:t>Conserve 52% energy usage and reduce carbon emissions from operations by 38%.</a:t>
            </a:r>
            <a:endParaRPr sz="19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434343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Char char="➢"/>
            </a:pPr>
            <a:r>
              <a:rPr b="1" lang="en" sz="1900">
                <a:solidFill>
                  <a:srgbClr val="434343"/>
                </a:solidFill>
              </a:rPr>
              <a:t>Operational Cost: </a:t>
            </a:r>
            <a:r>
              <a:rPr lang="en" sz="1900">
                <a:solidFill>
                  <a:srgbClr val="434343"/>
                </a:solidFill>
              </a:rPr>
              <a:t>Reduce customer expenses by 61% (fewer overall GPU usage).</a:t>
            </a:r>
            <a:endParaRPr sz="1900">
              <a:solidFill>
                <a:srgbClr val="434343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434343"/>
              </a:solidFill>
              <a:highlight>
                <a:srgbClr val="FFFFFF"/>
              </a:highlight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Char char="➢"/>
            </a:pPr>
            <a:r>
              <a:rPr b="1" lang="en" sz="1900">
                <a:solidFill>
                  <a:srgbClr val="434343"/>
                </a:solidFill>
              </a:rPr>
              <a:t>Performance: </a:t>
            </a:r>
            <a:r>
              <a:rPr lang="en" sz="1900">
                <a:solidFill>
                  <a:srgbClr val="434343"/>
                </a:solidFill>
              </a:rPr>
              <a:t>Satisfies all service-level objectives (SLOs) while minimizing tail latency (P99).</a:t>
            </a:r>
            <a:endParaRPr sz="19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90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/>
          <p:nvPr>
            <p:ph type="title"/>
          </p:nvPr>
        </p:nvSpPr>
        <p:spPr>
          <a:xfrm>
            <a:off x="3116700" y="3658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520" u="sng">
                <a:solidFill>
                  <a:srgbClr val="783F04"/>
                </a:solidFill>
              </a:rPr>
              <a:t>Conclusion</a:t>
            </a:r>
            <a:endParaRPr b="1" sz="3520" u="sng">
              <a:solidFill>
                <a:srgbClr val="783F04"/>
              </a:solidFill>
            </a:endParaRPr>
          </a:p>
        </p:txBody>
      </p:sp>
      <p:sp>
        <p:nvSpPr>
          <p:cNvPr id="140" name="Google Shape;140;p27"/>
          <p:cNvSpPr txBox="1"/>
          <p:nvPr>
            <p:ph idx="1" type="body"/>
          </p:nvPr>
        </p:nvSpPr>
        <p:spPr>
          <a:xfrm>
            <a:off x="311700" y="12634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Char char="●"/>
            </a:pPr>
            <a:r>
              <a:rPr lang="en" sz="2000">
                <a:solidFill>
                  <a:srgbClr val="434343"/>
                </a:solidFill>
              </a:rPr>
              <a:t>We don't have to choose between LLM performance and sustainability.</a:t>
            </a:r>
            <a:endParaRPr sz="2000">
              <a:solidFill>
                <a:srgbClr val="434343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434343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Char char="●"/>
            </a:pPr>
            <a:r>
              <a:rPr lang="en" sz="2000">
                <a:solidFill>
                  <a:srgbClr val="434343"/>
                </a:solidFill>
              </a:rPr>
              <a:t>By treating hardware and software configurations as dynamic knobs, clusters can perfectly match resources to the immediate workload.</a:t>
            </a:r>
            <a:endParaRPr sz="2000">
              <a:solidFill>
                <a:srgbClr val="434343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434343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Char char="●"/>
            </a:pPr>
            <a:r>
              <a:rPr lang="en" sz="2000">
                <a:solidFill>
                  <a:srgbClr val="434343"/>
                </a:solidFill>
              </a:rPr>
              <a:t>DynamoLLM paves the way for greener, highly scalable AI infrastructure.</a:t>
            </a:r>
            <a:endParaRPr sz="20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200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