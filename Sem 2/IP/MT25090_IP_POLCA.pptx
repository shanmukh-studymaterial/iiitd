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9144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j-lt"/>
        <a:ea typeface="+mj-ea"/>
        <a:cs typeface="+mj-cs"/>
        <a:sym typeface="Calibri"/>
      </a:defRPr>
    </a:lvl1pPr>
    <a:lvl2pPr indent="228600" defTabSz="457200" latinLnBrk="0">
      <a:defRPr sz="1200">
        <a:latin typeface="+mj-lt"/>
        <a:ea typeface="+mj-ea"/>
        <a:cs typeface="+mj-cs"/>
        <a:sym typeface="Calibri"/>
      </a:defRPr>
    </a:lvl2pPr>
    <a:lvl3pPr indent="457200" defTabSz="457200" latinLnBrk="0">
      <a:defRPr sz="1200">
        <a:latin typeface="+mj-lt"/>
        <a:ea typeface="+mj-ea"/>
        <a:cs typeface="+mj-cs"/>
        <a:sym typeface="Calibri"/>
      </a:defRPr>
    </a:lvl3pPr>
    <a:lvl4pPr indent="685800" defTabSz="457200" latinLnBrk="0">
      <a:defRPr sz="1200">
        <a:latin typeface="+mj-lt"/>
        <a:ea typeface="+mj-ea"/>
        <a:cs typeface="+mj-cs"/>
        <a:sym typeface="Calibri"/>
      </a:defRPr>
    </a:lvl4pPr>
    <a:lvl5pPr indent="914400" defTabSz="457200" latinLnBrk="0">
      <a:defRPr sz="1200">
        <a:latin typeface="+mj-lt"/>
        <a:ea typeface="+mj-ea"/>
        <a:cs typeface="+mj-cs"/>
        <a:sym typeface="Calibri"/>
      </a:defRPr>
    </a:lvl5pPr>
    <a:lvl6pPr indent="1143000" defTabSz="457200" latinLnBrk="0">
      <a:defRPr sz="1200">
        <a:latin typeface="+mj-lt"/>
        <a:ea typeface="+mj-ea"/>
        <a:cs typeface="+mj-cs"/>
        <a:sym typeface="Calibri"/>
      </a:defRPr>
    </a:lvl6pPr>
    <a:lvl7pPr indent="1371600" defTabSz="457200" latinLnBrk="0">
      <a:defRPr sz="1200">
        <a:latin typeface="+mj-lt"/>
        <a:ea typeface="+mj-ea"/>
        <a:cs typeface="+mj-cs"/>
        <a:sym typeface="Calibri"/>
      </a:defRPr>
    </a:lvl7pPr>
    <a:lvl8pPr indent="1600200" defTabSz="457200" latinLnBrk="0">
      <a:defRPr sz="1200">
        <a:latin typeface="+mj-lt"/>
        <a:ea typeface="+mj-ea"/>
        <a:cs typeface="+mj-cs"/>
        <a:sym typeface="Calibri"/>
      </a:defRPr>
    </a:lvl8pPr>
    <a:lvl9pPr indent="1828800" defTabSz="4572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45720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91440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137160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182880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half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png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itle 1"/>
          <p:cNvSpPr txBox="1"/>
          <p:nvPr>
            <p:ph type="ctrTitle"/>
          </p:nvPr>
        </p:nvSpPr>
        <p:spPr>
          <a:xfrm>
            <a:off x="513108" y="653915"/>
            <a:ext cx="7772401" cy="1470026"/>
          </a:xfrm>
          <a:prstGeom prst="rect">
            <a:avLst/>
          </a:prstGeom>
        </p:spPr>
        <p:txBody>
          <a:bodyPr/>
          <a:lstStyle/>
          <a:p>
            <a:pPr algn="l" defTabSz="914400">
              <a:tabLst>
                <a:tab pos="330200" algn="l"/>
                <a:tab pos="660400" algn="l"/>
                <a:tab pos="990600" algn="l"/>
                <a:tab pos="1320800" algn="l"/>
                <a:tab pos="1651000" algn="l"/>
                <a:tab pos="1981200" algn="l"/>
                <a:tab pos="2311400" algn="l"/>
                <a:tab pos="2641600" algn="l"/>
                <a:tab pos="2971800" algn="l"/>
                <a:tab pos="3302000" algn="l"/>
                <a:tab pos="3632200" algn="l"/>
                <a:tab pos="3962400" algn="l"/>
              </a:tabLst>
              <a:defRPr b="1" sz="2386">
                <a:latin typeface="+mn-lt"/>
                <a:ea typeface="+mn-ea"/>
                <a:cs typeface="+mn-cs"/>
                <a:sym typeface="Helvetica"/>
              </a:defRPr>
            </a:pPr>
            <a:r>
              <a:t>Characterizing Power Management Opportunities for LLMs in the Cloud</a:t>
            </a:r>
          </a:p>
          <a:p>
            <a:pPr algn="l" defTabSz="914400">
              <a:tabLst>
                <a:tab pos="330200" algn="l"/>
                <a:tab pos="660400" algn="l"/>
                <a:tab pos="990600" algn="l"/>
                <a:tab pos="1320800" algn="l"/>
                <a:tab pos="1651000" algn="l"/>
                <a:tab pos="1981200" algn="l"/>
                <a:tab pos="2311400" algn="l"/>
                <a:tab pos="2641600" algn="l"/>
                <a:tab pos="2971800" algn="l"/>
                <a:tab pos="3302000" algn="l"/>
                <a:tab pos="3632200" algn="l"/>
                <a:tab pos="3962400" algn="l"/>
              </a:tabLst>
              <a:defRPr b="1" sz="2386">
                <a:latin typeface="+mn-lt"/>
                <a:ea typeface="+mn-ea"/>
                <a:cs typeface="+mn-cs"/>
                <a:sym typeface="Helvetica"/>
              </a:defRPr>
            </a:pPr>
          </a:p>
          <a:p>
            <a:pPr algn="l" defTabSz="914400">
              <a:tabLst>
                <a:tab pos="330200" algn="l"/>
                <a:tab pos="660400" algn="l"/>
                <a:tab pos="990600" algn="l"/>
                <a:tab pos="1320800" algn="l"/>
                <a:tab pos="1651000" algn="l"/>
                <a:tab pos="1981200" algn="l"/>
                <a:tab pos="2311400" algn="l"/>
                <a:tab pos="2641600" algn="l"/>
                <a:tab pos="2971800" algn="l"/>
                <a:tab pos="3302000" algn="l"/>
                <a:tab pos="3632200" algn="l"/>
                <a:tab pos="3962400" algn="l"/>
              </a:tabLst>
              <a:defRPr sz="1735">
                <a:latin typeface="+mn-lt"/>
                <a:ea typeface="+mn-ea"/>
                <a:cs typeface="+mn-cs"/>
                <a:sym typeface="Helvetica"/>
              </a:defRPr>
            </a:pPr>
            <a:r>
              <a:t>MT25090</a:t>
            </a:r>
          </a:p>
        </p:txBody>
      </p:sp>
      <p:sp>
        <p:nvSpPr>
          <p:cNvPr id="95" name="Subtitle 2"/>
          <p:cNvSpPr txBox="1"/>
          <p:nvPr>
            <p:ph type="subTitle" sz="half" idx="1"/>
          </p:nvPr>
        </p:nvSpPr>
        <p:spPr>
          <a:xfrm>
            <a:off x="447668" y="2815244"/>
            <a:ext cx="4061341" cy="3764724"/>
          </a:xfrm>
          <a:prstGeom prst="rect">
            <a:avLst/>
          </a:prstGeom>
        </p:spPr>
        <p:txBody>
          <a:bodyPr/>
          <a:lstStyle/>
          <a:p>
            <a:pPr algn="l">
              <a:spcBef>
                <a:spcPts val="1400"/>
              </a:spcBef>
              <a:defRPr b="1" sz="19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Introduction &amp; Motivation</a:t>
            </a:r>
          </a:p>
          <a:p>
            <a:pPr algn="l">
              <a:spcBef>
                <a:spcPts val="1400"/>
              </a:spcBef>
              <a:defRPr b="1" sz="19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Background</a:t>
            </a:r>
          </a:p>
          <a:p>
            <a:pPr marL="457200" indent="-317500" algn="l">
              <a:spcBef>
                <a:spcPts val="0"/>
              </a:spcBef>
              <a:buSzPct val="100000"/>
              <a:buFont typeface="Times Roman"/>
              <a:buChar char="•"/>
              <a:defRPr b="1" sz="19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0"/>
              <a:t>Rapid growth of </a:t>
            </a:r>
            <a:r>
              <a:t>Large Language Models (LLMs)</a:t>
            </a:r>
            <a:endParaRPr b="0"/>
          </a:p>
          <a:p>
            <a:pPr marL="457200" indent="-317500" algn="l">
              <a:spcBef>
                <a:spcPts val="0"/>
              </a:spcBef>
              <a:buSzPct val="100000"/>
              <a:buFont typeface="Times Roman"/>
              <a:buChar char="•"/>
              <a:defRPr b="1" sz="19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0"/>
              <a:t>Massive increase in </a:t>
            </a:r>
            <a:r>
              <a:t>GPU demand in data centers</a:t>
            </a:r>
            <a:endParaRPr b="0"/>
          </a:p>
          <a:p>
            <a:pPr marL="457200" indent="-317500" algn="l">
              <a:spcBef>
                <a:spcPts val="0"/>
              </a:spcBef>
              <a:buSzPct val="100000"/>
              <a:buFont typeface="Times Roman"/>
              <a:buChar char="•"/>
              <a:defRPr sz="19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Examples:</a:t>
            </a:r>
          </a:p>
          <a:p>
            <a:pPr lvl="1" marL="914400" indent="-317500" algn="l">
              <a:spcBef>
                <a:spcPts val="0"/>
              </a:spcBef>
              <a:buSzPct val="100000"/>
              <a:buFont typeface="Times Roman"/>
              <a:buChar char="◦"/>
              <a:defRPr sz="19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GPT scale models → thousands of GPUs</a:t>
            </a:r>
          </a:p>
          <a:p>
            <a:pPr marL="457200" indent="-317500" algn="l">
              <a:spcBef>
                <a:spcPts val="0"/>
              </a:spcBef>
              <a:buSzPct val="100000"/>
              <a:buFont typeface="Times Roman"/>
              <a:buChar char="•"/>
              <a:defRPr sz="19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Inference workloads dominate (~90% of compute)</a:t>
            </a:r>
          </a:p>
        </p:txBody>
      </p:sp>
      <p:sp>
        <p:nvSpPr>
          <p:cNvPr id="96" name="Subtitle 2"/>
          <p:cNvSpPr txBox="1"/>
          <p:nvPr/>
        </p:nvSpPr>
        <p:spPr>
          <a:xfrm>
            <a:off x="4771064" y="2815244"/>
            <a:ext cx="4061341" cy="37647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>
              <a:spcBef>
                <a:spcPts val="1400"/>
              </a:spcBef>
              <a:defRPr b="1" sz="17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Problem Statement</a:t>
            </a:r>
          </a:p>
          <a:p>
            <a:pPr marL="457200" indent="-317500">
              <a:buSzPct val="100000"/>
              <a:buFont typeface="Times Roman"/>
              <a:buChar char="•"/>
              <a:defRPr sz="17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Datacenter constraints:</a:t>
            </a:r>
          </a:p>
          <a:p>
            <a:pPr lvl="1" marL="914400" indent="-317500">
              <a:buSzPct val="100000"/>
              <a:buFont typeface="Times Roman"/>
              <a:buChar char="◦"/>
              <a:defRPr sz="17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Power</a:t>
            </a:r>
          </a:p>
          <a:p>
            <a:pPr lvl="1" marL="914400" indent="-317500">
              <a:buSzPct val="100000"/>
              <a:buFont typeface="Times Roman"/>
              <a:buChar char="◦"/>
              <a:defRPr sz="17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Cooling</a:t>
            </a:r>
          </a:p>
          <a:p>
            <a:pPr lvl="1" marL="914400" indent="-317500">
              <a:buSzPct val="100000"/>
              <a:buFont typeface="Times Roman"/>
              <a:buChar char="◦"/>
              <a:defRPr sz="17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Space</a:t>
            </a:r>
          </a:p>
          <a:p>
            <a:pPr marL="457200" indent="-317500">
              <a:buSzPct val="100000"/>
              <a:buFont typeface="Times Roman"/>
              <a:buChar char="•"/>
              <a:defRPr b="1" sz="17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Power is the main bottleneck</a:t>
            </a:r>
            <a:endParaRPr b="0"/>
          </a:p>
          <a:p>
            <a:pPr marL="457200" indent="-317500">
              <a:buSzPct val="100000"/>
              <a:buFont typeface="Times Roman"/>
              <a:buChar char="•"/>
              <a:defRPr sz="17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Adding servers without control leads to exceed in power budget</a:t>
            </a:r>
          </a:p>
          <a:p>
            <a:pPr marL="457200" indent="-317500">
              <a:buSzPct val="100000"/>
              <a:buFont typeface="Times Roman"/>
              <a:buChar char="•"/>
              <a:defRPr b="1" sz="17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0"/>
              <a:t>Need for </a:t>
            </a:r>
            <a:r>
              <a:t>efficient power management techniques</a:t>
            </a:r>
            <a:endParaRPr b="0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LLMs in Cloud"/>
          <p:cNvSpPr txBox="1"/>
          <p:nvPr>
            <p:ph type="title"/>
          </p:nvPr>
        </p:nvSpPr>
        <p:spPr>
          <a:xfrm>
            <a:off x="457199" y="568213"/>
            <a:ext cx="8229601" cy="1143001"/>
          </a:xfrm>
          <a:prstGeom prst="rect">
            <a:avLst/>
          </a:prstGeom>
        </p:spPr>
        <p:txBody>
          <a:bodyPr/>
          <a:lstStyle/>
          <a:p>
            <a:pPr/>
            <a:r>
              <a:t>LLMs in Cloud</a:t>
            </a:r>
          </a:p>
        </p:txBody>
      </p:sp>
      <p:sp>
        <p:nvSpPr>
          <p:cNvPr id="99" name="LLM Architecture Overview…"/>
          <p:cNvSpPr txBox="1"/>
          <p:nvPr>
            <p:ph type="body" sz="half" idx="1"/>
          </p:nvPr>
        </p:nvSpPr>
        <p:spPr>
          <a:xfrm>
            <a:off x="888928" y="1686545"/>
            <a:ext cx="3432967" cy="4525964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1400"/>
              </a:spcBef>
              <a:buSzTx/>
              <a:buFontTx/>
              <a:buNone/>
              <a:defRPr b="1" sz="19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0" indent="0">
              <a:spcBef>
                <a:spcPts val="1400"/>
              </a:spcBef>
              <a:buSzTx/>
              <a:buFontTx/>
              <a:buNone/>
              <a:defRPr b="1" sz="19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LLM Architecture Overview</a:t>
            </a:r>
          </a:p>
          <a:p>
            <a:pPr marL="457200" indent="-317500">
              <a:spcBef>
                <a:spcPts val="0"/>
              </a:spcBef>
              <a:buFont typeface="Times Roman"/>
              <a:defRPr sz="19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Transformer-based models:</a:t>
            </a:r>
          </a:p>
          <a:p>
            <a:pPr lvl="1" marL="914400" indent="-317500">
              <a:spcBef>
                <a:spcPts val="0"/>
              </a:spcBef>
              <a:buFont typeface="Times Roman"/>
              <a:buChar char="◦"/>
              <a:defRPr sz="19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Encoder (BERT)</a:t>
            </a:r>
          </a:p>
          <a:p>
            <a:pPr lvl="1" marL="914400" indent="-317500">
              <a:spcBef>
                <a:spcPts val="0"/>
              </a:spcBef>
              <a:buFont typeface="Times Roman"/>
              <a:buChar char="◦"/>
              <a:defRPr sz="19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Decoder (GPT)</a:t>
            </a:r>
          </a:p>
          <a:p>
            <a:pPr lvl="1" marL="914400" indent="-317500">
              <a:spcBef>
                <a:spcPts val="0"/>
              </a:spcBef>
              <a:buFont typeface="Times Roman"/>
              <a:buChar char="◦"/>
              <a:defRPr sz="19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Encoder-Decoder (T5)</a:t>
            </a:r>
          </a:p>
          <a:p>
            <a:pPr marL="457200" indent="-317500">
              <a:spcBef>
                <a:spcPts val="0"/>
              </a:spcBef>
              <a:buFont typeface="Times Roman"/>
              <a:defRPr sz="19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Key components:</a:t>
            </a:r>
          </a:p>
          <a:p>
            <a:pPr lvl="1" marL="914400" indent="-317500">
              <a:spcBef>
                <a:spcPts val="0"/>
              </a:spcBef>
              <a:buFont typeface="Times Roman"/>
              <a:buChar char="◦"/>
              <a:defRPr sz="19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Attention layers</a:t>
            </a:r>
          </a:p>
          <a:p>
            <a:pPr lvl="1" marL="914400" indent="-317500">
              <a:spcBef>
                <a:spcPts val="0"/>
              </a:spcBef>
              <a:buFont typeface="Times Roman"/>
              <a:buChar char="◦"/>
              <a:defRPr sz="19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MLP layers</a:t>
            </a:r>
          </a:p>
          <a:p>
            <a:pPr marL="457200" indent="-317500">
              <a:spcBef>
                <a:spcPts val="0"/>
              </a:spcBef>
              <a:buFont typeface="Times Roman"/>
              <a:defRPr sz="19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Used for:</a:t>
            </a:r>
          </a:p>
          <a:p>
            <a:pPr lvl="1" marL="914400" indent="-317500">
              <a:spcBef>
                <a:spcPts val="0"/>
              </a:spcBef>
              <a:buFont typeface="Times Roman"/>
              <a:buChar char="◦"/>
              <a:defRPr sz="19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Text generation</a:t>
            </a:r>
          </a:p>
          <a:p>
            <a:pPr lvl="1" marL="914400" indent="-317500">
              <a:spcBef>
                <a:spcPts val="0"/>
              </a:spcBef>
              <a:buFont typeface="Times Roman"/>
              <a:buChar char="◦"/>
              <a:defRPr sz="19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NLP tasks</a:t>
            </a:r>
          </a:p>
        </p:txBody>
      </p:sp>
      <p:sp>
        <p:nvSpPr>
          <p:cNvPr id="100" name="Training vs Inference…"/>
          <p:cNvSpPr txBox="1"/>
          <p:nvPr/>
        </p:nvSpPr>
        <p:spPr>
          <a:xfrm>
            <a:off x="5203690" y="2126908"/>
            <a:ext cx="3432967" cy="45259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>
              <a:spcBef>
                <a:spcPts val="1400"/>
              </a:spcBef>
              <a:defRPr b="1" sz="17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Training vs Inference</a:t>
            </a:r>
          </a:p>
          <a:p>
            <a:pPr marL="457200" indent="-317500">
              <a:buSzPct val="100000"/>
              <a:buFont typeface="Times Roman"/>
              <a:buChar char="•"/>
              <a:defRPr b="1" sz="17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Training</a:t>
            </a:r>
            <a:endParaRPr b="0"/>
          </a:p>
          <a:p>
            <a:pPr lvl="1" marL="914400" indent="-317500">
              <a:buSzPct val="100000"/>
              <a:buFont typeface="Times Roman"/>
              <a:buChar char="◦"/>
              <a:defRPr sz="17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Heavy compute + communication</a:t>
            </a:r>
          </a:p>
          <a:p>
            <a:pPr lvl="1" marL="914400" indent="-317500">
              <a:buSzPct val="100000"/>
              <a:buFont typeface="Times Roman"/>
              <a:buChar char="◦"/>
              <a:defRPr sz="17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Large clusters (1000s of GPUs)</a:t>
            </a:r>
          </a:p>
          <a:p>
            <a:pPr marL="457200" indent="-317500">
              <a:buSzPct val="100000"/>
              <a:buFont typeface="Times Roman"/>
              <a:buChar char="•"/>
              <a:defRPr b="1" sz="17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Inference</a:t>
            </a:r>
            <a:endParaRPr b="0"/>
          </a:p>
          <a:p>
            <a:pPr lvl="1" marL="914400" indent="-317500">
              <a:buSzPct val="100000"/>
              <a:buFont typeface="Times Roman"/>
              <a:buChar char="◦"/>
              <a:defRPr sz="17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Only forward pass</a:t>
            </a:r>
          </a:p>
          <a:p>
            <a:pPr lvl="1" marL="914400" indent="-317500">
              <a:buSzPct val="100000"/>
              <a:buFont typeface="Times Roman"/>
              <a:buChar char="◦"/>
              <a:defRPr sz="17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Lower compute per request</a:t>
            </a:r>
          </a:p>
          <a:p>
            <a:pPr marL="457200" indent="-317500">
              <a:buSzPct val="100000"/>
              <a:buFont typeface="Times Roman"/>
              <a:buChar char="•"/>
              <a:defRPr sz="17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Inference dominates real-world usage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hases in decoder model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Phases in decoder model</a:t>
            </a:r>
          </a:p>
        </p:txBody>
      </p:sp>
      <p:sp>
        <p:nvSpPr>
          <p:cNvPr id="103" name="Double-click to edit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pic>
        <p:nvPicPr>
          <p:cNvPr id="104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57200" y="1600200"/>
            <a:ext cx="6690457" cy="376791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ower setup and consumption in DC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438911">
              <a:defRPr sz="4224"/>
            </a:lvl1pPr>
          </a:lstStyle>
          <a:p>
            <a:pPr/>
            <a:r>
              <a:t>Power setup and consumption in DCs</a:t>
            </a:r>
          </a:p>
        </p:txBody>
      </p:sp>
      <p:sp>
        <p:nvSpPr>
          <p:cNvPr id="107" name="Double-click to edit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pic>
        <p:nvPicPr>
          <p:cNvPr id="108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57200" y="1600200"/>
            <a:ext cx="7289770" cy="374771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ower Infrastructure &amp; Challenge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1" sz="3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Power Infrastructure &amp; Challenges</a:t>
            </a:r>
          </a:p>
        </p:txBody>
      </p:sp>
      <p:sp>
        <p:nvSpPr>
          <p:cNvPr id="111" name="Datacenter Power Hierarchy…"/>
          <p:cNvSpPr txBox="1"/>
          <p:nvPr>
            <p:ph type="body" idx="1"/>
          </p:nvPr>
        </p:nvSpPr>
        <p:spPr>
          <a:xfrm>
            <a:off x="724871" y="1867871"/>
            <a:ext cx="8229601" cy="3700284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1400"/>
              </a:spcBef>
              <a:buSzTx/>
              <a:buFontTx/>
              <a:buNone/>
              <a:defRPr b="1" sz="21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Datacenter Power Hierarchy</a:t>
            </a:r>
          </a:p>
          <a:p>
            <a:pPr marL="457200" indent="-317500">
              <a:spcBef>
                <a:spcPts val="0"/>
              </a:spcBef>
              <a:buFont typeface="Times Roman"/>
              <a:defRPr sz="2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Utility → UPS → PDU → Racks → Servers</a:t>
            </a:r>
          </a:p>
          <a:p>
            <a:pPr marL="457200" indent="-317500">
              <a:spcBef>
                <a:spcPts val="0"/>
              </a:spcBef>
              <a:buFont typeface="Times Roman"/>
              <a:defRPr sz="2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GPUs consume major share of power</a:t>
            </a:r>
          </a:p>
          <a:p>
            <a:pPr marL="457200" indent="-317500">
              <a:spcBef>
                <a:spcPts val="0"/>
              </a:spcBef>
              <a:buFont typeface="Times Roman"/>
              <a:defRPr sz="2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Provisioning based on </a:t>
            </a:r>
            <a:r>
              <a:rPr b="1"/>
              <a:t>peak usage</a:t>
            </a:r>
            <a:endParaRPr b="1"/>
          </a:p>
          <a:p>
            <a:pPr marL="457200" indent="-317500">
              <a:spcBef>
                <a:spcPts val="0"/>
              </a:spcBef>
              <a:buFont typeface="Times Roman"/>
              <a:defRPr sz="2000">
                <a:latin typeface="Times Roman"/>
                <a:ea typeface="Times Roman"/>
                <a:cs typeface="Times Roman"/>
                <a:sym typeface="Times Roman"/>
              </a:defRPr>
            </a:pPr>
            <a:endParaRPr b="1"/>
          </a:p>
          <a:p>
            <a:pPr marL="0" indent="0">
              <a:spcBef>
                <a:spcPts val="1400"/>
              </a:spcBef>
              <a:buSzTx/>
              <a:buFontTx/>
              <a:buNone/>
              <a:defRPr b="1" sz="2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Challenges</a:t>
            </a:r>
          </a:p>
          <a:p>
            <a:pPr marL="457200" indent="-317500">
              <a:spcBef>
                <a:spcPts val="0"/>
              </a:spcBef>
              <a:buFont typeface="Times Roman"/>
              <a:defRPr sz="19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No unified GPU power control</a:t>
            </a:r>
          </a:p>
          <a:p>
            <a:pPr marL="457200" indent="-317500">
              <a:spcBef>
                <a:spcPts val="0"/>
              </a:spcBef>
              <a:buFont typeface="Times Roman"/>
              <a:defRPr sz="19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Limited workload visibility (VMs)</a:t>
            </a:r>
          </a:p>
          <a:p>
            <a:pPr marL="457200" indent="-317500">
              <a:spcBef>
                <a:spcPts val="0"/>
              </a:spcBef>
              <a:buFont typeface="Times Roman"/>
              <a:defRPr sz="19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Slow Out-of-Band (OOB) controls (up to 40s)</a:t>
            </a:r>
          </a:p>
          <a:p>
            <a:pPr marL="457200" indent="-317500">
              <a:spcBef>
                <a:spcPts val="0"/>
              </a:spcBef>
              <a:buFont typeface="Times Roman"/>
              <a:defRPr sz="19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Hard to implement real-time power management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ower Characterizatio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1" sz="38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Power Characterization</a:t>
            </a:r>
          </a:p>
        </p:txBody>
      </p:sp>
      <p:sp>
        <p:nvSpPr>
          <p:cNvPr id="114" name="Training Power Patterns…"/>
          <p:cNvSpPr txBox="1"/>
          <p:nvPr>
            <p:ph type="body" sz="half" idx="1"/>
          </p:nvPr>
        </p:nvSpPr>
        <p:spPr>
          <a:xfrm>
            <a:off x="457200" y="1600200"/>
            <a:ext cx="4072633" cy="45259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1400"/>
              </a:spcBef>
              <a:buSzTx/>
              <a:buFontTx/>
              <a:buNone/>
              <a:defRPr b="1" sz="1900" u="sng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Training Power Patterns </a:t>
            </a:r>
          </a:p>
          <a:p>
            <a:pPr marL="0" indent="0">
              <a:spcBef>
                <a:spcPts val="1400"/>
              </a:spcBef>
              <a:buSzTx/>
              <a:buFontTx/>
              <a:buNone/>
              <a:defRPr b="1" sz="1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Observations:</a:t>
            </a:r>
          </a:p>
          <a:p>
            <a:pPr lvl="1" marL="0" indent="228600">
              <a:spcBef>
                <a:spcPts val="1400"/>
              </a:spcBef>
              <a:buSzTx/>
              <a:buFontTx/>
              <a:buNone/>
              <a:defRPr b="1" sz="1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0"/>
              <a:t>Power reaches </a:t>
            </a:r>
            <a:r>
              <a:t>GPU TDP or exceeds</a:t>
            </a:r>
          </a:p>
          <a:p>
            <a:pPr lvl="1" marL="0" indent="228600">
              <a:spcBef>
                <a:spcPts val="1400"/>
              </a:spcBef>
              <a:buSzTx/>
              <a:buFontTx/>
              <a:buNone/>
              <a:defRPr b="1" sz="1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0"/>
              <a:t>Large </a:t>
            </a:r>
            <a:r>
              <a:t>power swings per iteration</a:t>
            </a:r>
            <a:endParaRPr b="0"/>
          </a:p>
          <a:p>
            <a:pPr marL="457200" indent="-317500">
              <a:spcBef>
                <a:spcPts val="0"/>
              </a:spcBef>
              <a:buFont typeface="Times Roman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Cause:</a:t>
            </a:r>
          </a:p>
          <a:p>
            <a:pPr lvl="1" marL="914400" indent="-317500">
              <a:spcBef>
                <a:spcPts val="0"/>
              </a:spcBef>
              <a:buFont typeface="Times Roman"/>
              <a:buChar char="◦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Alternating compute &amp; communication phases</a:t>
            </a:r>
          </a:p>
          <a:p>
            <a:pPr marL="457200" indent="-317500">
              <a:spcBef>
                <a:spcPts val="0"/>
              </a:spcBef>
              <a:buFont typeface="Times Roman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Insight:</a:t>
            </a:r>
          </a:p>
          <a:p>
            <a:pPr lvl="1" marL="914400" indent="-317500">
              <a:spcBef>
                <a:spcPts val="0"/>
              </a:spcBef>
              <a:buFont typeface="Times Roman"/>
              <a:buChar char="◦"/>
              <a:defRPr b="1"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0"/>
              <a:t>Training needs </a:t>
            </a:r>
            <a:r>
              <a:t>overprovisioned power</a:t>
            </a:r>
          </a:p>
        </p:txBody>
      </p:sp>
      <p:pic>
        <p:nvPicPr>
          <p:cNvPr id="115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377369" y="1511165"/>
            <a:ext cx="4403554" cy="2290946"/>
          </a:xfrm>
          <a:prstGeom prst="rect">
            <a:avLst/>
          </a:prstGeom>
          <a:ln w="12700">
            <a:miter lim="400000"/>
          </a:ln>
        </p:spPr>
      </p:pic>
      <p:pic>
        <p:nvPicPr>
          <p:cNvPr id="116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960415" y="4277031"/>
            <a:ext cx="4489014" cy="229094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Inference Power Pattern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1" sz="35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Inference Power Patterns</a:t>
            </a:r>
          </a:p>
        </p:txBody>
      </p:sp>
      <p:sp>
        <p:nvSpPr>
          <p:cNvPr id="119" name="Two phases:…"/>
          <p:cNvSpPr txBox="1"/>
          <p:nvPr>
            <p:ph type="body" sz="quarter" idx="1"/>
          </p:nvPr>
        </p:nvSpPr>
        <p:spPr>
          <a:xfrm>
            <a:off x="457199" y="1600200"/>
            <a:ext cx="4602816" cy="1923992"/>
          </a:xfrm>
          <a:prstGeom prst="rect">
            <a:avLst/>
          </a:prstGeom>
        </p:spPr>
        <p:txBody>
          <a:bodyPr/>
          <a:lstStyle/>
          <a:p>
            <a:pPr marL="457200" indent="-317500">
              <a:spcBef>
                <a:spcPts val="0"/>
              </a:spcBef>
              <a:buFont typeface="Times Roman"/>
              <a:defRPr sz="1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Two phases:</a:t>
            </a:r>
          </a:p>
          <a:p>
            <a:pPr lvl="1" marL="914400" indent="-317500">
              <a:spcBef>
                <a:spcPts val="0"/>
              </a:spcBef>
              <a:buFont typeface="Times Roman"/>
              <a:buChar char="◦"/>
              <a:defRPr sz="1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Prompt phase → high power spike</a:t>
            </a:r>
          </a:p>
          <a:p>
            <a:pPr lvl="1" marL="914400" indent="-317500">
              <a:spcBef>
                <a:spcPts val="0"/>
              </a:spcBef>
              <a:buFont typeface="Times Roman"/>
              <a:buChar char="◦"/>
              <a:defRPr sz="1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Token phase → lower, stable power</a:t>
            </a:r>
          </a:p>
          <a:p>
            <a:pPr marL="457200" indent="-317500">
              <a:spcBef>
                <a:spcPts val="0"/>
              </a:spcBef>
              <a:buFont typeface="Times Roman"/>
              <a:defRPr sz="1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Key insight:</a:t>
            </a:r>
          </a:p>
          <a:p>
            <a:pPr lvl="1" marL="914400" indent="-317500">
              <a:spcBef>
                <a:spcPts val="0"/>
              </a:spcBef>
              <a:buFont typeface="Times Roman"/>
              <a:buChar char="◦"/>
              <a:defRPr b="1" sz="1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Peak doesn’t mean average power</a:t>
            </a:r>
            <a:endParaRPr b="0"/>
          </a:p>
          <a:p>
            <a:pPr marL="457200" indent="-317500">
              <a:spcBef>
                <a:spcPts val="0"/>
              </a:spcBef>
              <a:buFont typeface="Times Roman"/>
              <a:defRPr sz="1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Implication:</a:t>
            </a:r>
          </a:p>
          <a:p>
            <a:pPr lvl="1" marL="914400" indent="-317500">
              <a:spcBef>
                <a:spcPts val="0"/>
              </a:spcBef>
              <a:buFont typeface="Times Roman"/>
              <a:buChar char="◦"/>
              <a:defRPr b="1" sz="1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0"/>
              <a:t>Huge </a:t>
            </a:r>
            <a:r>
              <a:t>unused power headroom</a:t>
            </a:r>
            <a:r>
              <a:rPr b="0"/>
              <a:t> in inference</a:t>
            </a:r>
          </a:p>
        </p:txBody>
      </p:sp>
      <p:pic>
        <p:nvPicPr>
          <p:cNvPr id="120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5835" y="3459760"/>
            <a:ext cx="9032330" cy="221743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57699" y="977268"/>
            <a:ext cx="8028602" cy="462172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Multiple models at inference phas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Multiple models at inference phase</a:t>
            </a:r>
          </a:p>
        </p:txBody>
      </p:sp>
      <p:pic>
        <p:nvPicPr>
          <p:cNvPr id="125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647005" y="1464660"/>
            <a:ext cx="4177159" cy="510082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ower Optimisation Techniques"/>
          <p:cNvSpPr txBox="1"/>
          <p:nvPr>
            <p:ph type="ctrTitle"/>
          </p:nvPr>
        </p:nvSpPr>
        <p:spPr>
          <a:xfrm>
            <a:off x="556281" y="463954"/>
            <a:ext cx="7772401" cy="1213823"/>
          </a:xfrm>
          <a:prstGeom prst="rect">
            <a:avLst/>
          </a:prstGeom>
        </p:spPr>
        <p:txBody>
          <a:bodyPr/>
          <a:lstStyle>
            <a:lvl1pPr>
              <a:defRPr b="1" sz="23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Power Optimisation Techniques</a:t>
            </a:r>
          </a:p>
        </p:txBody>
      </p:sp>
      <p:sp>
        <p:nvSpPr>
          <p:cNvPr id="128" name="Frequency Locking…"/>
          <p:cNvSpPr txBox="1"/>
          <p:nvPr>
            <p:ph type="subTitle" idx="1"/>
          </p:nvPr>
        </p:nvSpPr>
        <p:spPr>
          <a:xfrm>
            <a:off x="651794" y="1726210"/>
            <a:ext cx="7840412" cy="3912590"/>
          </a:xfrm>
          <a:prstGeom prst="rect">
            <a:avLst/>
          </a:prstGeom>
        </p:spPr>
        <p:txBody>
          <a:bodyPr/>
          <a:lstStyle/>
          <a:p>
            <a:pPr algn="l">
              <a:spcBef>
                <a:spcPts val="1400"/>
              </a:spcBef>
              <a:defRPr b="1" sz="1900" u="sng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Frequency Locking</a:t>
            </a:r>
          </a:p>
          <a:p>
            <a:pPr marL="457200" indent="-317500" algn="l">
              <a:spcBef>
                <a:spcPts val="0"/>
              </a:spcBef>
              <a:buSzPct val="100000"/>
              <a:buFont typeface="Times Roman"/>
              <a:buChar char="•"/>
              <a:defRPr sz="19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Fix GPU clock frequency</a:t>
            </a:r>
          </a:p>
          <a:p>
            <a:pPr marL="457200" indent="-317500" algn="l">
              <a:spcBef>
                <a:spcPts val="0"/>
              </a:spcBef>
              <a:buSzPct val="100000"/>
              <a:buFont typeface="Times Roman"/>
              <a:buChar char="•"/>
              <a:defRPr sz="19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Reduces overall power</a:t>
            </a:r>
          </a:p>
          <a:p>
            <a:pPr marL="457200" indent="-317500" algn="l">
              <a:spcBef>
                <a:spcPts val="0"/>
              </a:spcBef>
              <a:buSzPct val="100000"/>
              <a:buFont typeface="Times Roman"/>
              <a:buChar char="•"/>
              <a:defRPr sz="19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Pros:</a:t>
            </a:r>
          </a:p>
          <a:p>
            <a:pPr lvl="1" marL="914400" indent="-317500" algn="l">
              <a:spcBef>
                <a:spcPts val="0"/>
              </a:spcBef>
              <a:buSzPct val="100000"/>
              <a:buFont typeface="Times Roman"/>
              <a:buChar char="◦"/>
              <a:defRPr sz="19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Predictable control</a:t>
            </a:r>
          </a:p>
          <a:p>
            <a:pPr lvl="1" marL="914400" indent="-317500" algn="l">
              <a:spcBef>
                <a:spcPts val="0"/>
              </a:spcBef>
              <a:buSzPct val="100000"/>
              <a:buFont typeface="Times Roman"/>
              <a:buChar char="◦"/>
              <a:defRPr sz="19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Efficient power saving</a:t>
            </a:r>
          </a:p>
          <a:p>
            <a:pPr marL="457200" indent="-317500" algn="l">
              <a:spcBef>
                <a:spcPts val="0"/>
              </a:spcBef>
              <a:buSzPct val="100000"/>
              <a:buFont typeface="Times Roman"/>
              <a:buChar char="•"/>
              <a:defRPr sz="19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Cons:</a:t>
            </a:r>
          </a:p>
          <a:p>
            <a:pPr lvl="1" marL="914400" indent="-317500" algn="l">
              <a:spcBef>
                <a:spcPts val="0"/>
              </a:spcBef>
              <a:buSzPct val="100000"/>
              <a:buFont typeface="Times Roman"/>
              <a:buChar char="◦"/>
              <a:defRPr sz="19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Slight performance drop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ower Capping…"/>
          <p:cNvSpPr txBox="1"/>
          <p:nvPr>
            <p:ph type="body" idx="1"/>
          </p:nvPr>
        </p:nvSpPr>
        <p:spPr>
          <a:xfrm>
            <a:off x="1450613" y="1128233"/>
            <a:ext cx="6681518" cy="4183077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1400"/>
              </a:spcBef>
              <a:buSzTx/>
              <a:buFontTx/>
              <a:buNone/>
              <a:defRPr b="1" sz="1900" u="sng">
                <a:latin typeface="Times Roman"/>
                <a:ea typeface="Times Roman"/>
                <a:cs typeface="Times Roman"/>
                <a:sym typeface="Times Roman"/>
              </a:defRPr>
            </a:pPr>
            <a:r>
              <a:t>Power Capping</a:t>
            </a:r>
          </a:p>
          <a:p>
            <a:pPr marL="457200" indent="-317500">
              <a:spcBef>
                <a:spcPts val="0"/>
              </a:spcBef>
              <a:buFont typeface="Times Roman"/>
              <a:defRPr sz="19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Limits power using thresholds</a:t>
            </a:r>
          </a:p>
          <a:p>
            <a:pPr marL="457200" indent="-317500">
              <a:spcBef>
                <a:spcPts val="0"/>
              </a:spcBef>
              <a:buFont typeface="Times Roman"/>
              <a:defRPr sz="19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Reactive mechanism</a:t>
            </a:r>
          </a:p>
          <a:p>
            <a:pPr marL="457200" indent="-317500">
              <a:spcBef>
                <a:spcPts val="0"/>
              </a:spcBef>
              <a:buFont typeface="Times Roman"/>
              <a:defRPr sz="19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Pros:</a:t>
            </a:r>
          </a:p>
          <a:p>
            <a:pPr lvl="1" marL="914400" indent="-317500">
              <a:spcBef>
                <a:spcPts val="0"/>
              </a:spcBef>
              <a:buFont typeface="Times Roman"/>
              <a:buChar char="◦"/>
              <a:defRPr sz="19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Controls peak power</a:t>
            </a:r>
          </a:p>
          <a:p>
            <a:pPr marL="457200" indent="-317500">
              <a:spcBef>
                <a:spcPts val="0"/>
              </a:spcBef>
              <a:buFont typeface="Times Roman"/>
              <a:defRPr sz="19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Cons:</a:t>
            </a:r>
          </a:p>
          <a:p>
            <a:pPr lvl="1" marL="914400" indent="-317500">
              <a:spcBef>
                <a:spcPts val="0"/>
              </a:spcBef>
              <a:buFont typeface="Times Roman"/>
              <a:buChar char="◦"/>
              <a:defRPr sz="19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Less reliable than frequency locking</a:t>
            </a:r>
          </a:p>
          <a:p>
            <a:pPr marL="457200" indent="-317500">
              <a:spcBef>
                <a:spcPts val="0"/>
              </a:spcBef>
              <a:buFont typeface="Times Roman"/>
              <a:defRPr sz="19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Insight:</a:t>
            </a:r>
          </a:p>
          <a:p>
            <a:pPr lvl="1" marL="914400" indent="-317500">
              <a:spcBef>
                <a:spcPts val="0"/>
              </a:spcBef>
              <a:buFont typeface="Times Roman"/>
              <a:buChar char="◦"/>
              <a:defRPr b="1" sz="19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0"/>
              <a:t>Best for </a:t>
            </a:r>
            <a:r>
              <a:t>reducing spikes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Key Insights from Study"/>
          <p:cNvSpPr txBox="1"/>
          <p:nvPr>
            <p:ph type="ctrTitle"/>
          </p:nvPr>
        </p:nvSpPr>
        <p:spPr>
          <a:xfrm>
            <a:off x="608088" y="299898"/>
            <a:ext cx="7772401" cy="1470026"/>
          </a:xfrm>
          <a:prstGeom prst="rect">
            <a:avLst/>
          </a:prstGeom>
        </p:spPr>
        <p:txBody>
          <a:bodyPr/>
          <a:lstStyle>
            <a:lvl1pPr>
              <a:defRPr b="1" sz="26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Key Insights from Study</a:t>
            </a:r>
          </a:p>
        </p:txBody>
      </p:sp>
      <p:sp>
        <p:nvSpPr>
          <p:cNvPr id="133" name="Training Insights…"/>
          <p:cNvSpPr txBox="1"/>
          <p:nvPr>
            <p:ph type="subTitle" sz="half" idx="1"/>
          </p:nvPr>
        </p:nvSpPr>
        <p:spPr>
          <a:xfrm>
            <a:off x="534047" y="1991099"/>
            <a:ext cx="3948316" cy="4394001"/>
          </a:xfrm>
          <a:prstGeom prst="rect">
            <a:avLst/>
          </a:prstGeom>
        </p:spPr>
        <p:txBody>
          <a:bodyPr/>
          <a:lstStyle/>
          <a:p>
            <a:pPr algn="l">
              <a:spcBef>
                <a:spcPts val="1400"/>
              </a:spcBef>
              <a:defRPr b="1" sz="1700" u="sng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Training Insights</a:t>
            </a:r>
          </a:p>
          <a:p>
            <a:pPr marL="457200" indent="-317500" algn="l">
              <a:spcBef>
                <a:spcPts val="0"/>
              </a:spcBef>
              <a:buSzPct val="100000"/>
              <a:buFont typeface="Times Roman"/>
              <a:buChar char="•"/>
              <a:defRPr sz="17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High peak power (≈ TDP)</a:t>
            </a:r>
          </a:p>
          <a:p>
            <a:pPr marL="457200" indent="-317500" algn="l">
              <a:spcBef>
                <a:spcPts val="0"/>
              </a:spcBef>
              <a:buSzPct val="100000"/>
              <a:buFont typeface="Times Roman"/>
              <a:buChar char="•"/>
              <a:defRPr sz="17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Large synchronized power swings</a:t>
            </a:r>
          </a:p>
          <a:p>
            <a:pPr marL="457200" indent="-317500" algn="l">
              <a:spcBef>
                <a:spcPts val="0"/>
              </a:spcBef>
              <a:buSzPct val="100000"/>
              <a:buFont typeface="Times Roman"/>
              <a:buChar char="•"/>
              <a:defRPr sz="17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Very low headroom (~3%)</a:t>
            </a:r>
          </a:p>
          <a:p>
            <a:pPr marL="457200" indent="-317500" algn="l">
              <a:spcBef>
                <a:spcPts val="0"/>
              </a:spcBef>
              <a:buSzPct val="100000"/>
              <a:buFont typeface="Times Roman"/>
              <a:buChar char="•"/>
              <a:defRPr sz="17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Hard to oversubscribe power</a:t>
            </a:r>
          </a:p>
        </p:txBody>
      </p:sp>
      <p:sp>
        <p:nvSpPr>
          <p:cNvPr id="134" name="Inference Insights…"/>
          <p:cNvSpPr txBox="1"/>
          <p:nvPr/>
        </p:nvSpPr>
        <p:spPr>
          <a:xfrm>
            <a:off x="4909049" y="1991099"/>
            <a:ext cx="3948315" cy="439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>
              <a:spcBef>
                <a:spcPts val="1400"/>
              </a:spcBef>
              <a:defRPr b="1" sz="1700" u="sng">
                <a:latin typeface="Times Roman"/>
                <a:ea typeface="Times Roman"/>
                <a:cs typeface="Times Roman"/>
                <a:sym typeface="Times Roman"/>
              </a:defRPr>
            </a:pPr>
            <a:r>
              <a:t>Inference Insights</a:t>
            </a:r>
          </a:p>
          <a:p>
            <a:pPr marL="457200" indent="-317500">
              <a:buSzPct val="100000"/>
              <a:buFont typeface="Times Roman"/>
              <a:buChar char="•"/>
              <a:defRPr sz="17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Lower average power than peak</a:t>
            </a:r>
          </a:p>
          <a:p>
            <a:pPr marL="457200" indent="-317500">
              <a:buSzPct val="100000"/>
              <a:buFont typeface="Times Roman"/>
              <a:buChar char="•"/>
              <a:defRPr sz="17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Uncorrelated workloads → smoother cluster usage</a:t>
            </a:r>
          </a:p>
          <a:p>
            <a:pPr marL="457200" indent="-317500">
              <a:buSzPct val="100000"/>
              <a:buFont typeface="Times Roman"/>
              <a:buChar char="•"/>
              <a:defRPr sz="17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High headroom (~21%)</a:t>
            </a:r>
          </a:p>
          <a:p>
            <a:pPr marL="457200" indent="-317500">
              <a:buSzPct val="100000"/>
              <a:buFont typeface="Times Roman"/>
              <a:buChar char="•"/>
              <a:defRPr b="1" sz="17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0"/>
              <a:t>Ideal for </a:t>
            </a:r>
            <a:r>
              <a:t>power optimization</a:t>
            </a:r>
            <a:endParaRPr b="0"/>
          </a:p>
        </p:txBody>
      </p:sp>
      <p:pic>
        <p:nvPicPr>
          <p:cNvPr id="135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480205" y="4091485"/>
            <a:ext cx="6028167" cy="238852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Design Implications"/>
          <p:cNvSpPr txBox="1"/>
          <p:nvPr>
            <p:ph type="ctrTitle"/>
          </p:nvPr>
        </p:nvSpPr>
        <p:spPr>
          <a:xfrm>
            <a:off x="685800" y="-10947"/>
            <a:ext cx="7772401" cy="1470026"/>
          </a:xfrm>
          <a:prstGeom prst="rect">
            <a:avLst/>
          </a:prstGeom>
        </p:spPr>
        <p:txBody>
          <a:bodyPr/>
          <a:lstStyle>
            <a:lvl1pPr>
              <a:defRPr b="1" sz="29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Design Implications</a:t>
            </a:r>
          </a:p>
        </p:txBody>
      </p:sp>
      <p:sp>
        <p:nvSpPr>
          <p:cNvPr id="138" name="Improvements for Data centers…"/>
          <p:cNvSpPr txBox="1"/>
          <p:nvPr>
            <p:ph type="subTitle" sz="half" idx="1"/>
          </p:nvPr>
        </p:nvSpPr>
        <p:spPr>
          <a:xfrm>
            <a:off x="464971" y="1338464"/>
            <a:ext cx="6400801" cy="3714805"/>
          </a:xfrm>
          <a:prstGeom prst="rect">
            <a:avLst/>
          </a:prstGeom>
        </p:spPr>
        <p:txBody>
          <a:bodyPr/>
          <a:lstStyle/>
          <a:p>
            <a:pPr algn="l">
              <a:spcBef>
                <a:spcPts val="1400"/>
              </a:spcBef>
              <a:defRPr b="1" sz="1400" u="sng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Improvements for Data centers</a:t>
            </a:r>
          </a:p>
          <a:p>
            <a:pPr marL="457200" indent="-317500" algn="l">
              <a:spcBef>
                <a:spcPts val="0"/>
              </a:spcBef>
              <a:buSzPct val="100000"/>
              <a:buFont typeface="Times Roman"/>
              <a:buChar char="•"/>
              <a:defRPr sz="12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GPU server </a:t>
            </a:r>
            <a:r>
              <a:rPr b="1"/>
              <a:t>derating</a:t>
            </a:r>
            <a:r>
              <a:t> (reduce provisioned power)</a:t>
            </a:r>
          </a:p>
          <a:p>
            <a:pPr marL="457200" indent="-317500" algn="l">
              <a:spcBef>
                <a:spcPts val="0"/>
              </a:spcBef>
              <a:buSzPct val="100000"/>
              <a:buFont typeface="Times Roman"/>
              <a:buChar char="•"/>
              <a:defRPr sz="12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Better OOB control interfaces</a:t>
            </a:r>
          </a:p>
          <a:p>
            <a:pPr marL="457200" indent="-317500" algn="l">
              <a:spcBef>
                <a:spcPts val="0"/>
              </a:spcBef>
              <a:buSzPct val="100000"/>
              <a:buFont typeface="Times Roman"/>
              <a:buChar char="•"/>
              <a:defRPr sz="12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Coordinated CPU + GPU power management</a:t>
            </a:r>
          </a:p>
          <a:p>
            <a:pPr marL="457200" indent="-317500" algn="l">
              <a:spcBef>
                <a:spcPts val="0"/>
              </a:spcBef>
              <a:buSzPct val="100000"/>
              <a:buFont typeface="Times Roman"/>
              <a:buChar char="•"/>
              <a:defRPr sz="12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algn="l">
              <a:spcBef>
                <a:spcPts val="1400"/>
              </a:spcBef>
              <a:defRPr b="1" sz="1400" u="sng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Training vs Inference Strategy</a:t>
            </a:r>
          </a:p>
          <a:p>
            <a:pPr marL="457200" indent="-317500" algn="l">
              <a:spcBef>
                <a:spcPts val="0"/>
              </a:spcBef>
              <a:buSzPct val="100000"/>
              <a:buFont typeface="Times Roman"/>
              <a:buChar char="•"/>
              <a:defRPr sz="12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Training:</a:t>
            </a:r>
          </a:p>
          <a:p>
            <a:pPr lvl="1" marL="914400" indent="-317500" algn="l">
              <a:spcBef>
                <a:spcPts val="0"/>
              </a:spcBef>
              <a:buSzPct val="100000"/>
              <a:buFont typeface="Times Roman"/>
              <a:buChar char="◦"/>
              <a:defRPr sz="12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Avoid oversubscription</a:t>
            </a:r>
          </a:p>
          <a:p>
            <a:pPr lvl="1" marL="914400" indent="-317500" algn="l">
              <a:spcBef>
                <a:spcPts val="0"/>
              </a:spcBef>
              <a:buSzPct val="100000"/>
              <a:buFont typeface="Times Roman"/>
              <a:buChar char="◦"/>
              <a:defRPr sz="12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Reduce power swings</a:t>
            </a:r>
          </a:p>
          <a:p>
            <a:pPr marL="457200" indent="-317500" algn="l">
              <a:spcBef>
                <a:spcPts val="0"/>
              </a:spcBef>
              <a:buSzPct val="100000"/>
              <a:buFont typeface="Times Roman"/>
              <a:buChar char="•"/>
              <a:defRPr sz="12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Inference:</a:t>
            </a:r>
          </a:p>
          <a:p>
            <a:pPr lvl="1" marL="914400" indent="-317500" algn="l">
              <a:spcBef>
                <a:spcPts val="0"/>
              </a:spcBef>
              <a:buSzPct val="100000"/>
              <a:buFont typeface="Times Roman"/>
              <a:buChar char="◦"/>
              <a:defRPr b="1" sz="12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0"/>
              <a:t>Enable </a:t>
            </a:r>
            <a:r>
              <a:t>power oversubscription</a:t>
            </a:r>
            <a:endParaRPr b="0"/>
          </a:p>
          <a:p>
            <a:pPr lvl="1" marL="914400" indent="-317500" algn="l">
              <a:spcBef>
                <a:spcPts val="0"/>
              </a:spcBef>
              <a:buSzPct val="100000"/>
              <a:buFont typeface="Times Roman"/>
              <a:buChar char="◦"/>
              <a:defRPr sz="12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Use workload-aware strategies</a:t>
            </a:r>
          </a:p>
          <a:p>
            <a:pPr marL="457200" indent="-317500" algn="l">
              <a:spcBef>
                <a:spcPts val="0"/>
              </a:spcBef>
              <a:buSzPct val="100000"/>
              <a:buFont typeface="Times Roman"/>
              <a:buChar char="•"/>
              <a:tabLst>
                <a:tab pos="596900" algn="l"/>
                <a:tab pos="914400" algn="l"/>
              </a:tabLst>
              <a:defRPr sz="12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</a:p>
        </p:txBody>
      </p:sp>
      <p:pic>
        <p:nvPicPr>
          <p:cNvPr id="139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487179" y="2554372"/>
            <a:ext cx="5588928" cy="246079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81825" y="1652079"/>
            <a:ext cx="7336642" cy="248699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OLCA Framework"/>
          <p:cNvSpPr txBox="1"/>
          <p:nvPr>
            <p:ph type="ctrTitle"/>
          </p:nvPr>
        </p:nvSpPr>
        <p:spPr>
          <a:xfrm>
            <a:off x="685800" y="170379"/>
            <a:ext cx="7772401" cy="1470026"/>
          </a:xfrm>
          <a:prstGeom prst="rect">
            <a:avLst/>
          </a:prstGeom>
        </p:spPr>
        <p:txBody>
          <a:bodyPr/>
          <a:lstStyle>
            <a:lvl1pPr>
              <a:defRPr b="1" sz="3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POLCA Framework</a:t>
            </a:r>
          </a:p>
        </p:txBody>
      </p:sp>
      <p:sp>
        <p:nvSpPr>
          <p:cNvPr id="144" name="What is POLCA?…"/>
          <p:cNvSpPr txBox="1"/>
          <p:nvPr>
            <p:ph type="subTitle" sz="half" idx="1"/>
          </p:nvPr>
        </p:nvSpPr>
        <p:spPr>
          <a:xfrm>
            <a:off x="746471" y="1353811"/>
            <a:ext cx="6700399" cy="2050291"/>
          </a:xfrm>
          <a:prstGeom prst="rect">
            <a:avLst/>
          </a:prstGeom>
        </p:spPr>
        <p:txBody>
          <a:bodyPr/>
          <a:lstStyle/>
          <a:p>
            <a:pPr algn="l">
              <a:spcBef>
                <a:spcPts val="1400"/>
              </a:spcBef>
              <a:defRPr b="1" sz="14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What is POLCA?</a:t>
            </a:r>
          </a:p>
          <a:p>
            <a:pPr marL="457200" indent="-317500" algn="l">
              <a:spcBef>
                <a:spcPts val="0"/>
              </a:spcBef>
              <a:buSzPct val="100000"/>
              <a:buFont typeface="Times Roman"/>
              <a:buChar char="•"/>
              <a:defRPr sz="12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Power oversubscription framework</a:t>
            </a:r>
          </a:p>
          <a:p>
            <a:pPr marL="457200" indent="-317500" algn="l">
              <a:spcBef>
                <a:spcPts val="0"/>
              </a:spcBef>
              <a:buSzPct val="100000"/>
              <a:buFont typeface="Times Roman"/>
              <a:buChar char="•"/>
              <a:defRPr sz="12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Designed for inference clusters</a:t>
            </a:r>
          </a:p>
          <a:p>
            <a:pPr marL="457200" indent="-317500" algn="l">
              <a:spcBef>
                <a:spcPts val="0"/>
              </a:spcBef>
              <a:buSzPct val="100000"/>
              <a:buFont typeface="Times Roman"/>
              <a:buChar char="•"/>
              <a:defRPr sz="12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Key features:</a:t>
            </a:r>
          </a:p>
          <a:p>
            <a:pPr lvl="1" marL="914400" indent="-317500" algn="l">
              <a:spcBef>
                <a:spcPts val="0"/>
              </a:spcBef>
              <a:buSzPct val="100000"/>
              <a:buFont typeface="Times Roman"/>
              <a:buChar char="◦"/>
              <a:defRPr sz="12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Priority-based control</a:t>
            </a:r>
          </a:p>
          <a:p>
            <a:pPr lvl="1" marL="914400" indent="-317500" algn="l">
              <a:spcBef>
                <a:spcPts val="0"/>
              </a:spcBef>
              <a:buSzPct val="100000"/>
              <a:buFont typeface="Times Roman"/>
              <a:buChar char="◦"/>
              <a:defRPr sz="12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Safe power scaling</a:t>
            </a:r>
          </a:p>
          <a:p>
            <a:pPr marL="457200" indent="-317500" algn="l">
              <a:spcBef>
                <a:spcPts val="0"/>
              </a:spcBef>
              <a:buSzPct val="100000"/>
              <a:buFont typeface="Times Roman"/>
              <a:buChar char="•"/>
              <a:defRPr sz="12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Result:</a:t>
            </a:r>
          </a:p>
          <a:p>
            <a:pPr lvl="1" marL="914400" indent="-317500" algn="l">
              <a:spcBef>
                <a:spcPts val="0"/>
              </a:spcBef>
              <a:buSzPct val="100000"/>
              <a:buFont typeface="Times Roman"/>
              <a:buChar char="◦"/>
              <a:defRPr sz="12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+30% more servers deployed</a:t>
            </a:r>
          </a:p>
        </p:txBody>
      </p:sp>
      <p:pic>
        <p:nvPicPr>
          <p:cNvPr id="145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745316" y="1234024"/>
            <a:ext cx="1600201" cy="2171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46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836125" y="1272124"/>
            <a:ext cx="1930401" cy="2095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47" name="pasted-movie.png" descr="pasted-movie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68209" y="3177610"/>
            <a:ext cx="5876183" cy="324641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77414" y="1047156"/>
            <a:ext cx="6588427" cy="336981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Conclusion"/>
          <p:cNvSpPr txBox="1"/>
          <p:nvPr>
            <p:ph type="title"/>
          </p:nvPr>
        </p:nvSpPr>
        <p:spPr>
          <a:xfrm>
            <a:off x="1087522" y="2267633"/>
            <a:ext cx="3008315" cy="1162051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pPr/>
            <a:r>
              <a:t>Conclusion</a:t>
            </a:r>
          </a:p>
        </p:txBody>
      </p:sp>
      <p:sp>
        <p:nvSpPr>
          <p:cNvPr id="152" name="LLMs are power-hungry workloads…"/>
          <p:cNvSpPr txBox="1"/>
          <p:nvPr>
            <p:ph type="body" sz="half" idx="1"/>
          </p:nvPr>
        </p:nvSpPr>
        <p:spPr>
          <a:xfrm>
            <a:off x="4464409" y="1609012"/>
            <a:ext cx="3504734" cy="4870291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0"/>
              </a:spcBef>
              <a:buSzTx/>
              <a:buFontTx/>
              <a:buNone/>
              <a:defRPr b="1" sz="17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0"/>
              <a:t>LLMs are </a:t>
            </a:r>
            <a:r>
              <a:t>power-hungry workloads</a:t>
            </a:r>
          </a:p>
          <a:p>
            <a:pPr marL="0" indent="0">
              <a:spcBef>
                <a:spcPts val="0"/>
              </a:spcBef>
              <a:buSzTx/>
              <a:buFontTx/>
              <a:buNone/>
              <a:defRPr b="1" sz="17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0" indent="0">
              <a:spcBef>
                <a:spcPts val="0"/>
              </a:spcBef>
              <a:buSzTx/>
              <a:buFontTx/>
              <a:buNone/>
              <a:defRPr b="1" sz="1700">
                <a:latin typeface="Times Roman"/>
                <a:ea typeface="Times Roman"/>
                <a:cs typeface="Times Roman"/>
                <a:sym typeface="Times Roman"/>
              </a:defRPr>
            </a:pPr>
            <a:endParaRPr b="0"/>
          </a:p>
          <a:p>
            <a:pPr marL="0" indent="0">
              <a:spcBef>
                <a:spcPts val="0"/>
              </a:spcBef>
              <a:buSzTx/>
              <a:buFontTx/>
              <a:buNone/>
              <a:defRPr sz="17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Training → rigid, high power</a:t>
            </a:r>
          </a:p>
          <a:p>
            <a:pPr marL="0" indent="0">
              <a:spcBef>
                <a:spcPts val="0"/>
              </a:spcBef>
              <a:buSzTx/>
              <a:buFontTx/>
              <a:buNone/>
              <a:defRPr sz="17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Inference → flexible, optimizable</a:t>
            </a:r>
          </a:p>
          <a:p>
            <a:pPr marL="0" indent="0">
              <a:spcBef>
                <a:spcPts val="0"/>
              </a:spcBef>
              <a:buSzTx/>
              <a:buFontTx/>
              <a:buNone/>
              <a:defRPr sz="17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0" indent="0">
              <a:spcBef>
                <a:spcPts val="0"/>
              </a:spcBef>
              <a:buSzTx/>
              <a:buFontTx/>
              <a:buNone/>
              <a:defRPr sz="17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0" indent="0">
              <a:spcBef>
                <a:spcPts val="0"/>
              </a:spcBef>
              <a:buSzTx/>
              <a:buFontTx/>
              <a:buNone/>
              <a:defRPr sz="17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0" indent="0">
              <a:spcBef>
                <a:spcPts val="0"/>
              </a:spcBef>
              <a:buSzTx/>
              <a:buFontTx/>
              <a:buNone/>
              <a:defRPr sz="17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POLCA shows:</a:t>
            </a:r>
          </a:p>
          <a:p>
            <a:pPr marL="457200" indent="-317500">
              <a:spcBef>
                <a:spcPts val="0"/>
              </a:spcBef>
              <a:buFont typeface="Times Roman"/>
              <a:defRPr sz="17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Better utilization</a:t>
            </a:r>
          </a:p>
          <a:p>
            <a:pPr marL="457200" indent="-317500">
              <a:spcBef>
                <a:spcPts val="0"/>
              </a:spcBef>
              <a:buFont typeface="Times Roman"/>
              <a:defRPr sz="17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Lower cost</a:t>
            </a:r>
          </a:p>
          <a:p>
            <a:pPr marL="457200" indent="-317500">
              <a:spcBef>
                <a:spcPts val="0"/>
              </a:spcBef>
              <a:buFont typeface="Times Roman"/>
              <a:defRPr sz="17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Scalable solution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