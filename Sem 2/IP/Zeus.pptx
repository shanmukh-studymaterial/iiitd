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ibre Franklin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ibreFranklin-regular.fntdata"/><Relationship Id="rId14" Type="http://schemas.openxmlformats.org/officeDocument/2006/relationships/slide" Target="slides/slide9.xml"/><Relationship Id="rId17" Type="http://schemas.openxmlformats.org/officeDocument/2006/relationships/font" Target="fonts/LibreFranklin-italic.fntdata"/><Relationship Id="rId16" Type="http://schemas.openxmlformats.org/officeDocument/2006/relationships/font" Target="fonts/LibreFrankli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ibreFrankl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059c8d59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059c8d59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22960" y="21495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22960" y="1581151"/>
            <a:ext cx="7543800" cy="28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6163820" y="4835129"/>
            <a:ext cx="1938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822959" y="4835129"/>
            <a:ext cx="511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245187" y="4835129"/>
            <a:ext cx="5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1"/>
            <a:ext cx="9144001" cy="51434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1" name="Google Shape;61;p14"/>
          <p:cNvSpPr txBox="1"/>
          <p:nvPr>
            <p:ph type="ctrTitle"/>
          </p:nvPr>
        </p:nvSpPr>
        <p:spPr>
          <a:xfrm>
            <a:off x="3967316" y="479323"/>
            <a:ext cx="4689988" cy="276451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341D"/>
              </a:buClr>
              <a:buSzPts val="3500"/>
              <a:buFont typeface="Bookman Old Style"/>
              <a:buNone/>
            </a:pPr>
            <a:r>
              <a:rPr b="1" lang="en-GB" sz="3500">
                <a:solidFill>
                  <a:srgbClr val="5F341D"/>
                </a:solidFill>
              </a:rPr>
              <a:t>Zeus: </a:t>
            </a:r>
            <a:r>
              <a:rPr b="1" lang="en-GB" sz="3500">
                <a:solidFill>
                  <a:srgbClr val="8F4F2C"/>
                </a:solidFill>
              </a:rPr>
              <a:t>Understanding and Optimizing GPU Energy</a:t>
            </a:r>
            <a:br>
              <a:rPr b="1" lang="en-GB" sz="3500">
                <a:solidFill>
                  <a:srgbClr val="8F4F2C"/>
                </a:solidFill>
              </a:rPr>
            </a:br>
            <a:r>
              <a:rPr b="1" lang="en-GB" sz="3500">
                <a:solidFill>
                  <a:srgbClr val="8F4F2C"/>
                </a:solidFill>
              </a:rPr>
              <a:t>Consumption of DNN Training</a:t>
            </a:r>
            <a:endParaRPr b="1"/>
          </a:p>
        </p:txBody>
      </p:sp>
      <p:pic>
        <p:nvPicPr>
          <p:cNvPr descr="A picture containing building, sitting, bench, side&#10;&#10;Description automatically generated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"/>
            <a:ext cx="3476486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4"/>
          <p:cNvCxnSpPr/>
          <p:nvPr/>
        </p:nvCxnSpPr>
        <p:spPr>
          <a:xfrm>
            <a:off x="4070816" y="3374194"/>
            <a:ext cx="422708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4"/>
          <p:cNvSpPr txBox="1"/>
          <p:nvPr/>
        </p:nvSpPr>
        <p:spPr>
          <a:xfrm>
            <a:off x="5017050" y="3722325"/>
            <a:ext cx="38031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AGITHE YESHWANTH - MT25059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962385" y="23080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Bookman Old Style"/>
              <a:buNone/>
            </a:pPr>
            <a:r>
              <a:rPr b="1" lang="en-GB" sz="3500">
                <a:solidFill>
                  <a:srgbClr val="741B47"/>
                </a:solidFill>
              </a:rPr>
              <a:t>Background</a:t>
            </a:r>
            <a:endParaRPr b="1" sz="3500">
              <a:solidFill>
                <a:srgbClr val="741B47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800100" y="1560157"/>
            <a:ext cx="7886700" cy="28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63500" lvl="0" marL="635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GB" sz="2400">
                <a:solidFill>
                  <a:srgbClr val="000000"/>
                </a:solidFill>
              </a:rPr>
              <a:t>DNN Training.</a:t>
            </a:r>
            <a:endParaRPr>
              <a:solidFill>
                <a:srgbClr val="000000"/>
              </a:solidFill>
            </a:endParaRPr>
          </a:p>
          <a:p>
            <a:pPr indent="-63500" lvl="0" marL="635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GB" sz="2400">
                <a:solidFill>
                  <a:srgbClr val="000000"/>
                </a:solidFill>
              </a:rPr>
              <a:t>GPU: </a:t>
            </a:r>
            <a:r>
              <a:rPr lang="en-GB">
                <a:solidFill>
                  <a:srgbClr val="000000"/>
                </a:solidFill>
              </a:rPr>
              <a:t>Training GPT-3 == 120 years of electricity for a average US household.</a:t>
            </a:r>
            <a:endParaRPr>
              <a:solidFill>
                <a:srgbClr val="000000"/>
              </a:solidFill>
            </a:endParaRPr>
          </a:p>
          <a:p>
            <a:pPr indent="-133350" lvl="0" marL="635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⮚"/>
            </a:pPr>
            <a:r>
              <a:rPr lang="en-GB" sz="2100">
                <a:solidFill>
                  <a:srgbClr val="000000"/>
                </a:solidFill>
              </a:rPr>
              <a:t>ETA (Energy-to-Accuracy)</a:t>
            </a:r>
            <a:endParaRPr>
              <a:solidFill>
                <a:srgbClr val="000000"/>
              </a:solidFill>
            </a:endParaRPr>
          </a:p>
          <a:p>
            <a:pPr indent="-63500" lvl="0" marL="635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GB" sz="2400">
                <a:solidFill>
                  <a:srgbClr val="000000"/>
                </a:solidFill>
              </a:rPr>
              <a:t>TTA (Time-to-Accuracy)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</a:pPr>
            <a:r>
              <a:rPr lang="en-GB" sz="900">
                <a:solidFill>
                  <a:srgbClr val="000000"/>
                </a:solidFill>
              </a:rPr>
              <a:t>	</a:t>
            </a:r>
            <a:r>
              <a:rPr lang="en-GB" sz="1800">
                <a:solidFill>
                  <a:srgbClr val="000000"/>
                </a:solidFill>
              </a:rPr>
              <a:t>ETA = TTA * AVGPower  (Depends on Batch Size and Power Limit)</a:t>
            </a:r>
            <a:endParaRPr sz="1800">
              <a:solidFill>
                <a:srgbClr val="000000"/>
              </a:solidFill>
            </a:endParaRPr>
          </a:p>
        </p:txBody>
      </p:sp>
      <p:cxnSp>
        <p:nvCxnSpPr>
          <p:cNvPr id="71" name="Google Shape;71;p15"/>
          <p:cNvCxnSpPr/>
          <p:nvPr/>
        </p:nvCxnSpPr>
        <p:spPr>
          <a:xfrm>
            <a:off x="63400" y="1283650"/>
            <a:ext cx="8795400" cy="7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978210" y="88177"/>
            <a:ext cx="7543800" cy="10881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rgbClr val="741B47"/>
                </a:solidFill>
              </a:rPr>
              <a:t>Motivation</a:t>
            </a:r>
            <a:endParaRPr b="1" sz="3500">
              <a:solidFill>
                <a:srgbClr val="741B47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822960" y="1581151"/>
            <a:ext cx="7543800" cy="28206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lnSpcReduction="20000"/>
          </a:bodyPr>
          <a:lstStyle/>
          <a:p>
            <a:pPr indent="-349250" lvl="0" marL="4572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Char char="➔"/>
            </a:pPr>
            <a:r>
              <a:rPr b="1" lang="en-GB" sz="1900">
                <a:solidFill>
                  <a:schemeClr val="dk1"/>
                </a:solidFill>
              </a:rPr>
              <a:t>Scale:</a:t>
            </a:r>
            <a:r>
              <a:rPr lang="en-GB" sz="1900">
                <a:solidFill>
                  <a:schemeClr val="dk1"/>
                </a:solidFill>
              </a:rPr>
              <a:t> AI models demand exponentially more compute and energy.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Char char="➔"/>
            </a:pPr>
            <a:r>
              <a:rPr b="1" lang="en-GB" sz="1900">
                <a:solidFill>
                  <a:schemeClr val="dk1"/>
                </a:solidFill>
              </a:rPr>
              <a:t>Impact:</a:t>
            </a:r>
            <a:r>
              <a:rPr lang="en-GB" sz="1900">
                <a:solidFill>
                  <a:schemeClr val="dk1"/>
                </a:solidFill>
              </a:rPr>
              <a:t> Training GPT-3 consumes 1,287 MWh—equal to 120 years of an average U.S. household's electricity.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00"/>
              <a:buChar char="➔"/>
            </a:pPr>
            <a:r>
              <a:rPr b="1" lang="en-GB" sz="1900">
                <a:solidFill>
                  <a:schemeClr val="dk1"/>
                </a:solidFill>
              </a:rPr>
              <a:t>Goal:</a:t>
            </a:r>
            <a:r>
              <a:rPr lang="en-GB" sz="1900">
                <a:solidFill>
                  <a:schemeClr val="dk1"/>
                </a:solidFill>
              </a:rPr>
              <a:t> Optimizing cluster-level efficiency saves costs and reduces massive carbon footprints.</a:t>
            </a:r>
            <a:endParaRPr sz="2700">
              <a:solidFill>
                <a:schemeClr val="dk1"/>
              </a:solidFill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253550" y="1156875"/>
            <a:ext cx="8716200" cy="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007976" y="493156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Bookman Old Style"/>
              <a:buNone/>
            </a:pPr>
            <a:r>
              <a:rPr b="1" lang="en-GB" sz="3100">
                <a:solidFill>
                  <a:srgbClr val="741B47"/>
                </a:solidFill>
              </a:rPr>
              <a:t>Opportunity for Energy Savings</a:t>
            </a:r>
            <a:br>
              <a:rPr b="1" lang="en-GB" sz="3100">
                <a:solidFill>
                  <a:srgbClr val="741B47"/>
                </a:solidFill>
              </a:rPr>
            </a:br>
            <a:endParaRPr b="1" sz="3100">
              <a:solidFill>
                <a:srgbClr val="741B47"/>
              </a:solidFill>
            </a:endParaRPr>
          </a:p>
        </p:txBody>
      </p:sp>
      <p:pic>
        <p:nvPicPr>
          <p:cNvPr id="84" name="Google Shape;84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3549" y="1581228"/>
            <a:ext cx="5550040" cy="282059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912901" y="1907795"/>
            <a:ext cx="2143121" cy="17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GB" sz="2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Here we observe 24~75% of reduction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17"/>
          <p:cNvCxnSpPr/>
          <p:nvPr/>
        </p:nvCxnSpPr>
        <p:spPr>
          <a:xfrm>
            <a:off x="63400" y="1347025"/>
            <a:ext cx="911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696175" y="72300"/>
            <a:ext cx="80676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Bookman Old Style"/>
              <a:buNone/>
            </a:pPr>
            <a:r>
              <a:rPr b="1" lang="en-GB">
                <a:solidFill>
                  <a:srgbClr val="A64D79"/>
                </a:solidFill>
              </a:rPr>
              <a:t>Existing Solutions are not Practically Enough.</a:t>
            </a:r>
            <a:endParaRPr b="1">
              <a:solidFill>
                <a:srgbClr val="A64D79"/>
              </a:solidFill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90149" y="1438500"/>
            <a:ext cx="8273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🡪New energy-efficient DNN architectures.</a:t>
            </a:r>
            <a:endParaRPr sz="2100">
              <a:solidFill>
                <a:srgbClr val="000000"/>
              </a:solidFill>
            </a:endParaRPr>
          </a:p>
          <a:p>
            <a:pPr indent="-361950" lvl="0" marL="9144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-GB" sz="2100">
                <a:solidFill>
                  <a:srgbClr val="000000"/>
                </a:solidFill>
              </a:rPr>
              <a:t>Squeeze Next (CVPRW '18), ChamNet (CVPR '19), SkyNet (MLSys ‘20)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 🡪New energy-efficient HW architectures.</a:t>
            </a:r>
            <a:endParaRPr sz="2100">
              <a:solidFill>
                <a:srgbClr val="000000"/>
              </a:solidFill>
            </a:endParaRPr>
          </a:p>
          <a:p>
            <a:pPr indent="-361950" lvl="0" marL="9144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-GB" sz="2100">
                <a:solidFill>
                  <a:srgbClr val="000000"/>
                </a:solidFill>
              </a:rPr>
              <a:t>TPU (ISCA '17), EDEN (MICRO '19), LNPU (ISSCC ‘19)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🡪Offline profiling and power model fitting and Confined to GPU power   configuration knobs</a:t>
            </a:r>
            <a:endParaRPr sz="2100">
              <a:solidFill>
                <a:srgbClr val="000000"/>
              </a:solidFill>
            </a:endParaRPr>
          </a:p>
          <a:p>
            <a:pPr indent="-361950" lvl="0" marL="9144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-GB" sz="2100">
                <a:solidFill>
                  <a:srgbClr val="000000"/>
                </a:solidFill>
              </a:rPr>
              <a:t>MPC (HPCA '17), ODPP (CCGRID '20), GPOEO (TPDS '22)</a:t>
            </a:r>
            <a:endParaRPr sz="2100">
              <a:solidFill>
                <a:srgbClr val="000000"/>
              </a:solidFill>
            </a:endParaRPr>
          </a:p>
        </p:txBody>
      </p:sp>
      <p:cxnSp>
        <p:nvCxnSpPr>
          <p:cNvPr id="93" name="Google Shape;93;p18"/>
          <p:cNvCxnSpPr/>
          <p:nvPr/>
        </p:nvCxnSpPr>
        <p:spPr>
          <a:xfrm>
            <a:off x="-15850" y="1267800"/>
            <a:ext cx="9144000" cy="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641250" y="0"/>
            <a:ext cx="78615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Bookman Old Style"/>
              <a:buNone/>
            </a:pPr>
            <a:r>
              <a:rPr b="1" lang="en-GB" sz="3200">
                <a:solidFill>
                  <a:srgbClr val="741B47"/>
                </a:solidFill>
              </a:rPr>
              <a:t>Relationship Between Time and Energy</a:t>
            </a:r>
            <a:endParaRPr b="1" sz="3200">
              <a:solidFill>
                <a:srgbClr val="741B47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594860" y="1928911"/>
            <a:ext cx="3597110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🡪 Trade-off Between Time and Energy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572000" y="2637379"/>
            <a:ext cx="2538662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🡪 Which point is the best?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031" y="1591777"/>
            <a:ext cx="3379338" cy="298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4594860" y="3176337"/>
            <a:ext cx="377190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Cost = η * ETA + (1- η )*MAXPOWER * TTA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9"/>
          <p:cNvCxnSpPr/>
          <p:nvPr/>
        </p:nvCxnSpPr>
        <p:spPr>
          <a:xfrm>
            <a:off x="79225" y="1267800"/>
            <a:ext cx="874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868885" y="294177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Bookman Old Style"/>
              <a:buNone/>
            </a:pPr>
            <a:r>
              <a:rPr b="1" lang="en-GB" sz="3500">
                <a:solidFill>
                  <a:srgbClr val="741B47"/>
                </a:solidFill>
              </a:rPr>
              <a:t>		Zeus workflow</a:t>
            </a:r>
            <a:endParaRPr b="1" sz="3500">
              <a:solidFill>
                <a:srgbClr val="741B47"/>
              </a:solidFill>
            </a:endParaRPr>
          </a:p>
        </p:txBody>
      </p:sp>
      <p:pic>
        <p:nvPicPr>
          <p:cNvPr id="109" name="Google Shape;10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8958" y="1761623"/>
            <a:ext cx="3028823" cy="28205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20"/>
          <p:cNvCxnSpPr/>
          <p:nvPr/>
        </p:nvCxnSpPr>
        <p:spPr>
          <a:xfrm>
            <a:off x="79225" y="1616450"/>
            <a:ext cx="88113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1044810" y="183277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Bookman Old Style"/>
              <a:buNone/>
            </a:pPr>
            <a:r>
              <a:rPr b="1" lang="en-GB" sz="3000">
                <a:solidFill>
                  <a:srgbClr val="741B47"/>
                </a:solidFill>
              </a:rPr>
              <a:t>How Zeus reaches the converging point</a:t>
            </a:r>
            <a:endParaRPr b="1">
              <a:solidFill>
                <a:srgbClr val="741B47"/>
              </a:solidFill>
            </a:endParaRPr>
          </a:p>
        </p:txBody>
      </p:sp>
      <p:pic>
        <p:nvPicPr>
          <p:cNvPr id="116" name="Google Shape;11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4423" y="1689434"/>
            <a:ext cx="3402338" cy="282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388" y="1689434"/>
            <a:ext cx="3498190" cy="28341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21"/>
          <p:cNvCxnSpPr/>
          <p:nvPr/>
        </p:nvCxnSpPr>
        <p:spPr>
          <a:xfrm flipH="1" rot="10800000">
            <a:off x="15850" y="1378675"/>
            <a:ext cx="91281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2597885" y="72327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Bookman Old Style"/>
              <a:buNone/>
            </a:pPr>
            <a:r>
              <a:rPr b="1" lang="en-GB" sz="3500">
                <a:solidFill>
                  <a:srgbClr val="741B47"/>
                </a:solidFill>
              </a:rPr>
              <a:t>Conclusion</a:t>
            </a:r>
            <a:endParaRPr b="1" sz="3500">
              <a:solidFill>
                <a:srgbClr val="741B47"/>
              </a:solidFill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530785" y="1517776"/>
            <a:ext cx="7543800" cy="28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</a:rPr>
              <a:t>🡪 Works on any DNN model.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2100"/>
              <a:buNone/>
            </a:pPr>
            <a:r>
              <a:rPr lang="en-GB" sz="2400">
                <a:solidFill>
                  <a:srgbClr val="000000"/>
                </a:solidFill>
              </a:rPr>
              <a:t> 🡪 Works without modifying Existing hardware.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2100"/>
              <a:buNone/>
            </a:pPr>
            <a:r>
              <a:rPr lang="en-GB" sz="2400">
                <a:solidFill>
                  <a:srgbClr val="000000"/>
                </a:solidFill>
              </a:rPr>
              <a:t> 🡪 Fully online JIT profiling and MAB.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2100"/>
              <a:buNone/>
            </a:pPr>
            <a:r>
              <a:rPr lang="en-GB" sz="2400">
                <a:solidFill>
                  <a:srgbClr val="000000"/>
                </a:solidFill>
              </a:rPr>
              <a:t> 🡪  Jointly optimizes both job and GPU –side configurations.</a:t>
            </a:r>
            <a:endParaRPr sz="2400">
              <a:solidFill>
                <a:srgbClr val="000000"/>
              </a:solidFill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 flipH="1" rot="10800000">
            <a:off x="206025" y="1251900"/>
            <a:ext cx="81933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