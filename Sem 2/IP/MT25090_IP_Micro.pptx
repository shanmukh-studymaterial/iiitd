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/>
          <p:nvPr>
            <p:ph type="ctrTitle"/>
          </p:nvPr>
        </p:nvSpPr>
        <p:spPr>
          <a:xfrm>
            <a:off x="685799" y="2052713"/>
            <a:ext cx="7772401" cy="2284745"/>
          </a:xfrm>
          <a:prstGeom prst="rect">
            <a:avLst/>
          </a:prstGeom>
        </p:spPr>
        <p:txBody>
          <a:bodyPr/>
          <a:lstStyle/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2200">
                <a:latin typeface="+mn-lt"/>
                <a:ea typeface="+mn-ea"/>
                <a:cs typeface="+mn-cs"/>
                <a:sym typeface="Helvetica"/>
              </a:defRPr>
            </a:pPr>
            <a:r>
              <a:t>Power-aware Deep Learning Model Serving with μ-Serve</a:t>
            </a:r>
          </a:p>
          <a:p>
            <a:pPr algn="l"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800">
                <a:latin typeface="+mn-lt"/>
                <a:ea typeface="+mn-ea"/>
                <a:cs typeface="+mn-cs"/>
                <a:sym typeface="Helvetica"/>
              </a:defRPr>
            </a:pPr>
          </a:p>
          <a:p>
            <a:pPr algn="l"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800">
                <a:latin typeface="+mn-lt"/>
                <a:ea typeface="+mn-ea"/>
                <a:cs typeface="+mn-cs"/>
                <a:sym typeface="Helvetica"/>
              </a:defRPr>
            </a:pPr>
          </a:p>
          <a:p>
            <a:pPr algn="l"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800">
                <a:latin typeface="+mn-lt"/>
                <a:ea typeface="+mn-ea"/>
                <a:cs typeface="+mn-cs"/>
                <a:sym typeface="Helvetica"/>
              </a:defRPr>
            </a:pPr>
          </a:p>
          <a:p>
            <a:pPr algn="l"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800">
                <a:latin typeface="+mn-lt"/>
                <a:ea typeface="+mn-ea"/>
                <a:cs typeface="+mn-cs"/>
                <a:sym typeface="Helvetica"/>
              </a:defRPr>
            </a:pPr>
          </a:p>
          <a:p>
            <a:pPr algn="l"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800">
                <a:latin typeface="+mn-lt"/>
                <a:ea typeface="+mn-ea"/>
                <a:cs typeface="+mn-cs"/>
                <a:sym typeface="Helvetica"/>
              </a:defRPr>
            </a:pPr>
            <a:r>
              <a:t>MT25090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Introduction &amp; Motiva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2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Introduction &amp; Motivation</a:t>
            </a:r>
          </a:p>
        </p:txBody>
      </p:sp>
      <p:sp>
        <p:nvSpPr>
          <p:cNvPr id="97" name="Why Power Efficiency Matters in Model Serving?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1" marL="0" indent="228600">
              <a:spcBef>
                <a:spcPts val="0"/>
              </a:spcBef>
              <a:buSzTx/>
              <a:buFontTx/>
              <a:buNone/>
              <a:defRPr b="1" sz="1300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t>Why Power Efficiency Matters in Model Serving?</a:t>
            </a:r>
          </a:p>
          <a:p>
            <a:pPr lvl="1" marL="0" indent="228600">
              <a:spcBef>
                <a:spcPts val="0"/>
              </a:spcBef>
              <a:buSzTx/>
              <a:buFontTx/>
              <a:buNone/>
              <a:defRPr b="1" sz="1300" u="sng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Modern deep learning systems are no longer limited to training — they are continuously serving millions of inference requests in real time.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From chat bots to recommendation systems, model serving has become the </a:t>
            </a:r>
            <a:r>
              <a:rPr b="1"/>
              <a:t>dominant workload in cloud AI systems</a:t>
            </a:r>
            <a:r>
              <a:t>.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But this comes at a cost.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 significant portion of ML energy usage now comes from inference</a:t>
            </a:r>
          </a:p>
          <a:p>
            <a:pPr marL="457200" indent="-317500">
              <a:spcBef>
                <a:spcPts val="0"/>
              </a:spcBef>
              <a:buFont typeface="Times Roman"/>
              <a:defRPr b="1"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Industry reports suggest </a:t>
            </a:r>
            <a:r>
              <a:t>up to 90% of ML compute demand is from inference workloads</a:t>
            </a:r>
            <a:endParaRPr b="0"/>
          </a:p>
          <a:p>
            <a:pPr marL="0" indent="0">
              <a:spcBef>
                <a:spcPts val="1200"/>
              </a:spcBef>
              <a:buSzTx/>
              <a:buFontTx/>
              <a:buNone/>
              <a:defRPr b="1" sz="1200">
                <a:latin typeface="Times Roman"/>
                <a:ea typeface="Times Roman"/>
                <a:cs typeface="Times Roman"/>
                <a:sym typeface="Times Roman"/>
              </a:defRPr>
            </a:pPr>
            <a:endParaRPr b="0"/>
          </a:p>
          <a:p>
            <a:pPr marL="0" indent="0">
              <a:spcBef>
                <a:spcPts val="1200"/>
              </a:spcBef>
              <a:buSzTx/>
              <a:buFontTx/>
              <a:buNone/>
              <a:defRPr b="1" sz="1200">
                <a:latin typeface="Times Roman"/>
                <a:ea typeface="Times Roman"/>
                <a:cs typeface="Times Roman"/>
                <a:sym typeface="Times Roman"/>
              </a:defRPr>
            </a:pPr>
            <a:endParaRPr b="0"/>
          </a:p>
          <a:p>
            <a:pPr marL="0" indent="0">
              <a:spcBef>
                <a:spcPts val="1200"/>
              </a:spcBef>
              <a:buSzTx/>
              <a:buFontTx/>
              <a:buNone/>
              <a:defRPr b="1"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 The problem is no longer just performance —</a:t>
            </a:r>
            <a:br>
              <a:rPr b="0"/>
            </a:br>
            <a:r>
              <a:rPr b="0"/>
              <a:t>it is about </a:t>
            </a:r>
            <a:r>
              <a:t>serving efficiently under strict latency requirements while minimizing power consumption</a:t>
            </a:r>
            <a:r>
              <a:rPr b="0"/>
              <a:t>.</a:t>
            </a:r>
            <a:endParaRPr b="0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he Core Problem &amp; Gap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25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The Core Problem &amp; Gap</a:t>
            </a:r>
          </a:p>
        </p:txBody>
      </p:sp>
      <p:sp>
        <p:nvSpPr>
          <p:cNvPr id="100" name="What Existing Systems Miss?…"/>
          <p:cNvSpPr txBox="1"/>
          <p:nvPr>
            <p:ph type="body" idx="1"/>
          </p:nvPr>
        </p:nvSpPr>
        <p:spPr>
          <a:xfrm>
            <a:off x="819851" y="1444777"/>
            <a:ext cx="8229601" cy="5167991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0"/>
              </a:spcBef>
              <a:buSzTx/>
              <a:buFontTx/>
              <a:buNone/>
              <a:defRPr b="1" sz="1300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t>What Existing Systems Miss?</a:t>
            </a:r>
          </a:p>
          <a:p>
            <a:pPr marL="0" indent="0">
              <a:spcBef>
                <a:spcPts val="0"/>
              </a:spcBef>
              <a:buSzTx/>
              <a:buFontTx/>
              <a:buNone/>
              <a:defRPr sz="13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Most existing model-serving systems are designed with one primary goal:</a:t>
            </a:r>
            <a:br/>
            <a:r>
              <a:t>maximize performance — either latency or throughput.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To achieve this, they rely on: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model parallelism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batching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replication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However, there is something they almost completely ignore: “GPU frequency as a controllable knob for power optimization”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Even though: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GPUs support frequency scaling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and lower frequencies can reduce power significantly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Current systems: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either keep frequency fixed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or use generic DVFS mechanisms that are </a:t>
            </a:r>
            <a:r>
              <a:rPr b="1"/>
              <a:t>not optimized for model serving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This leads to a key inefficiency: We are over-provisioning power without fully utilizing it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Challenges in Power-aware Model Serving"/>
          <p:cNvSpPr txBox="1"/>
          <p:nvPr>
            <p:ph type="title"/>
          </p:nvPr>
        </p:nvSpPr>
        <p:spPr>
          <a:xfrm>
            <a:off x="457200" y="67408"/>
            <a:ext cx="8229600" cy="1143001"/>
          </a:xfrm>
          <a:prstGeom prst="rect">
            <a:avLst/>
          </a:prstGeom>
        </p:spPr>
        <p:txBody>
          <a:bodyPr/>
          <a:lstStyle>
            <a:lvl1pPr>
              <a:defRPr b="1" sz="2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Challenges in Power-aware Model Serving</a:t>
            </a:r>
          </a:p>
        </p:txBody>
      </p:sp>
      <p:sp>
        <p:nvSpPr>
          <p:cNvPr id="103" name="Challenge 1: Finding the Right GPU Frequency…"/>
          <p:cNvSpPr txBox="1"/>
          <p:nvPr>
            <p:ph type="body" idx="1"/>
          </p:nvPr>
        </p:nvSpPr>
        <p:spPr>
          <a:xfrm>
            <a:off x="457200" y="1187090"/>
            <a:ext cx="8229600" cy="4939073"/>
          </a:xfrm>
          <a:prstGeom prst="rect">
            <a:avLst/>
          </a:prstGeom>
        </p:spPr>
        <p:txBody>
          <a:bodyPr/>
          <a:lstStyle/>
          <a:p>
            <a:pPr marL="0" indent="0" algn="ctr">
              <a:spcBef>
                <a:spcPts val="0"/>
              </a:spcBef>
              <a:buSzTx/>
              <a:buFontTx/>
              <a:buNone/>
              <a:defRPr b="1" sz="1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Challenge 1: Finding the Right GPU Frequency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b="1" sz="1400" u="sng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>
              <a:spcBef>
                <a:spcPts val="1200"/>
              </a:spcBef>
              <a:buSzTx/>
              <a:buFontTx/>
              <a:buNone/>
              <a:defRPr b="1" sz="1400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t>Why Frequency Selection is Hard?</a:t>
            </a:r>
            <a:endParaRPr b="0"/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At first glance, reducing GPU frequency seems simple: </a:t>
            </a:r>
            <a:r>
              <a:rPr u="sng"/>
              <a:t>“lower frequency → lower power.”</a:t>
            </a:r>
            <a:endParaRPr u="sng"/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But in model serving, things are not that straightforward.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b="1"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Every request must satisfy strict </a:t>
            </a:r>
            <a:r>
              <a:t>latency SLOs (Service Level Objectives)</a:t>
            </a:r>
            <a:r>
              <a:rPr b="0"/>
              <a:t>.</a:t>
            </a:r>
            <a:endParaRPr b="0"/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So the real question becomes: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1.How low can we reduce frequency without violating latency?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3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This is difficult because: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different models behave differently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 same GPU may serve multiple models simultaneously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workload patterns keep changing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There is no single “optimal frequency” — it only depends on context.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Challenge 2: Non-deterministic Behavio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23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Challenge 2: Non-deterministic Behavior</a:t>
            </a:r>
          </a:p>
        </p:txBody>
      </p:sp>
      <p:sp>
        <p:nvSpPr>
          <p:cNvPr id="106" name="Why Generative Models Make It Worse?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spcBef>
                <a:spcPts val="1200"/>
              </a:spcBef>
              <a:buSzTx/>
              <a:buFontTx/>
              <a:buNone/>
              <a:defRPr b="1" sz="1200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t>Why Generative Models Make It Worse?</a:t>
            </a:r>
            <a:endParaRPr b="0"/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Unlike traditional models, generative models (like GPT) behave very unpredictably.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Each request: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generates tokens one by one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execution time depends entirely on the output length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So even with the same input type: “execution time varies significantly”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This creates mainly two problems: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Hard to predict latency impact of frequency scaling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Scheduling becomes inefficient (e.g., FCFS causes blocking)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 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 system cannot easily tell whether latency increase is due to: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lower GPU frequency</a:t>
            </a:r>
            <a:br/>
            <a:r>
              <a:t>OR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inherent randomness of the model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Challenge 3: Lack of Fine-grained Contro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2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Challenge 3: Lack of Fine-grained Control</a:t>
            </a:r>
          </a:p>
        </p:txBody>
      </p:sp>
      <p:sp>
        <p:nvSpPr>
          <p:cNvPr id="109" name="GPU Limitation: One Frequency for Everything?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spcBef>
                <a:spcPts val="1200"/>
              </a:spcBef>
              <a:buSzTx/>
              <a:buFontTx/>
              <a:buNone/>
              <a:defRPr b="1" sz="1200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t>GPU Limitation: One Frequency for Everything?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Unlike CPUs, GPUs do not allow fine-grained frequency control.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That means: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multiple model partitions share the same GPU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frequency is decided by the </a:t>
            </a:r>
            <a:r>
              <a:rPr b="1"/>
              <a:t>most demanding workload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Even if some parts of the model don’t need high frequency, they are forced to run at higher power.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This leads to mainly 2 things: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wasted energy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missed optimization opportunities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Background &amp; System Overview"/>
          <p:cNvSpPr txBox="1"/>
          <p:nvPr>
            <p:ph type="title"/>
          </p:nvPr>
        </p:nvSpPr>
        <p:spPr>
          <a:xfrm>
            <a:off x="457200" y="-105283"/>
            <a:ext cx="8229600" cy="1143001"/>
          </a:xfrm>
          <a:prstGeom prst="rect">
            <a:avLst/>
          </a:prstGeom>
        </p:spPr>
        <p:txBody>
          <a:bodyPr/>
          <a:lstStyle>
            <a:lvl1pPr>
              <a:defRPr b="1" sz="23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Background &amp; System Overview</a:t>
            </a:r>
          </a:p>
        </p:txBody>
      </p:sp>
      <p:sp>
        <p:nvSpPr>
          <p:cNvPr id="112" name="How Model Serving Works…"/>
          <p:cNvSpPr txBox="1"/>
          <p:nvPr>
            <p:ph type="body" idx="1"/>
          </p:nvPr>
        </p:nvSpPr>
        <p:spPr>
          <a:xfrm>
            <a:off x="457200" y="856346"/>
            <a:ext cx="8229600" cy="5783270"/>
          </a:xfrm>
          <a:prstGeom prst="rect">
            <a:avLst/>
          </a:prstGeom>
        </p:spPr>
        <p:txBody>
          <a:bodyPr/>
          <a:lstStyle/>
          <a:p>
            <a:pPr marL="0" indent="0" algn="ctr">
              <a:spcBef>
                <a:spcPts val="1400"/>
              </a:spcBef>
              <a:buSzTx/>
              <a:buFontTx/>
              <a:buNone/>
              <a:defRPr b="1" sz="1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How Model Serving Works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b="1" sz="1400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t>From Training to Serving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 lifecycle of a deep learning model has two main phases:</a:t>
            </a:r>
          </a:p>
          <a:p>
            <a:pPr marL="457200" indent="-317500">
              <a:spcBef>
                <a:spcPts val="0"/>
              </a:spcBef>
              <a:buFont typeface="Times Roman"/>
              <a:buAutoNum type="arabicPeriod" startAt="1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Training</a:t>
            </a:r>
          </a:p>
          <a:p>
            <a:pPr marL="457200" indent="-317500">
              <a:spcBef>
                <a:spcPts val="0"/>
              </a:spcBef>
              <a:buFont typeface="Times Roman"/>
              <a:buAutoNum type="arabicPeriod" startAt="1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Serving (Inference)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 serving phase follows a request-response pattern: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Users send queries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System schedules them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GPUs process them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Results are returned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b="1"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>
              <a:spcBef>
                <a:spcPts val="1200"/>
              </a:spcBef>
              <a:buSzTx/>
              <a:buFontTx/>
              <a:buNone/>
              <a:defRPr b="1"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From the figure:</a:t>
            </a:r>
            <a:endParaRPr b="0"/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Left side → training + model registry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Right side → serving system + GPU cluster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Workers execute model partitions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>
              <a:spcBef>
                <a:spcPts val="1200"/>
              </a:spcBef>
              <a:buSzTx/>
              <a:buFontTx/>
              <a:buNone/>
              <a:defRPr sz="1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Key takeaway: Serving is continuous, dynamic, and latency-sensitive.</a:t>
            </a:r>
          </a:p>
        </p:txBody>
      </p:sp>
      <p:pic>
        <p:nvPicPr>
          <p:cNvPr id="113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875111" y="2445802"/>
            <a:ext cx="5279330" cy="282885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ower vs Frequency Behaviour"/>
          <p:cNvSpPr txBox="1"/>
          <p:nvPr>
            <p:ph type="title"/>
          </p:nvPr>
        </p:nvSpPr>
        <p:spPr>
          <a:xfrm>
            <a:off x="457200" y="-157091"/>
            <a:ext cx="8229601" cy="1143001"/>
          </a:xfrm>
          <a:prstGeom prst="rect">
            <a:avLst/>
          </a:prstGeom>
        </p:spPr>
        <p:txBody>
          <a:bodyPr/>
          <a:lstStyle>
            <a:lvl1pPr>
              <a:defRPr b="1" sz="23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Power vs Frequency Behaviour</a:t>
            </a:r>
          </a:p>
        </p:txBody>
      </p:sp>
      <p:sp>
        <p:nvSpPr>
          <p:cNvPr id="116" name="Where Power Saving Opportunity Comes From?…"/>
          <p:cNvSpPr txBox="1"/>
          <p:nvPr>
            <p:ph type="body" idx="1"/>
          </p:nvPr>
        </p:nvSpPr>
        <p:spPr>
          <a:xfrm>
            <a:off x="457200" y="1678450"/>
            <a:ext cx="8229600" cy="444771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1200"/>
              </a:spcBef>
              <a:buSzTx/>
              <a:buFontTx/>
              <a:buNone/>
              <a:defRPr b="1" sz="1400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t>Where Power Saving Opportunity Comes From?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From the figure: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Left graph → latency vs frequency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Right graph → power vs frequency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As frequency increases: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latency improves rapidly at first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then stabilizes (diminishing returns)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But power increases almost linearly which mismatch is the key insight.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“Even if we reduce frequency slightly, latency barely changes, but power drops significantly.”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b="1"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This creates a </a:t>
            </a:r>
            <a:r>
              <a:t>sweet spot for optimisation</a:t>
            </a:r>
            <a:r>
              <a:rPr b="0"/>
              <a:t>.</a:t>
            </a:r>
          </a:p>
        </p:txBody>
      </p:sp>
      <p:pic>
        <p:nvPicPr>
          <p:cNvPr id="117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468867" y="850589"/>
            <a:ext cx="4558085" cy="272356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Non-determinism in Real Workloads"/>
          <p:cNvSpPr txBox="1"/>
          <p:nvPr>
            <p:ph type="title"/>
          </p:nvPr>
        </p:nvSpPr>
        <p:spPr>
          <a:xfrm>
            <a:off x="457199" y="-157091"/>
            <a:ext cx="8229601" cy="1143001"/>
          </a:xfrm>
          <a:prstGeom prst="rect">
            <a:avLst/>
          </a:prstGeom>
        </p:spPr>
        <p:txBody>
          <a:bodyPr/>
          <a:lstStyle>
            <a:lvl1pPr>
              <a:defRPr b="1" sz="23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Non-determinism in Real Workloads</a:t>
            </a:r>
          </a:p>
        </p:txBody>
      </p:sp>
      <p:sp>
        <p:nvSpPr>
          <p:cNvPr id="120" name="Why Scheduling Becomes Difficult?…"/>
          <p:cNvSpPr txBox="1"/>
          <p:nvPr>
            <p:ph type="body" idx="1"/>
          </p:nvPr>
        </p:nvSpPr>
        <p:spPr>
          <a:xfrm>
            <a:off x="457200" y="1052681"/>
            <a:ext cx="8229600" cy="5073482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1200"/>
              </a:spcBef>
              <a:buSzTx/>
              <a:buFontTx/>
              <a:buNone/>
              <a:defRPr b="1" sz="1400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t>Why Scheduling Becomes Difficult?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b="1"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From the figure:</a:t>
            </a:r>
            <a:endParaRPr b="0"/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It shows output token length distribution for LLMs.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Key observation: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Huge variation in output length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Some responses are very short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others are extremely long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Since execution time is directly proportional to the  output length: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This leads to: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unpredictable latency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scheduling inefficiencies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This is why naive scheduling First Come First Serve (FCFS) fails.</a:t>
            </a:r>
          </a:p>
        </p:txBody>
      </p:sp>
      <p:pic>
        <p:nvPicPr>
          <p:cNvPr id="121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830713" y="1568989"/>
            <a:ext cx="3886201" cy="25781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μ-Serve Overview"/>
          <p:cNvSpPr txBox="1"/>
          <p:nvPr>
            <p:ph type="title"/>
          </p:nvPr>
        </p:nvSpPr>
        <p:spPr>
          <a:xfrm>
            <a:off x="457200" y="-44841"/>
            <a:ext cx="8229601" cy="1143001"/>
          </a:xfrm>
          <a:prstGeom prst="rect">
            <a:avLst/>
          </a:prstGeom>
        </p:spPr>
        <p:txBody>
          <a:bodyPr/>
          <a:lstStyle>
            <a:lvl1pPr>
              <a:defRPr b="1" sz="2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μ-Serve Overview</a:t>
            </a:r>
          </a:p>
        </p:txBody>
      </p:sp>
      <p:sp>
        <p:nvSpPr>
          <p:cNvPr id="124" name="μ-Serve: A Power-aware Model Serving Framework…"/>
          <p:cNvSpPr txBox="1"/>
          <p:nvPr>
            <p:ph type="body" idx="1"/>
          </p:nvPr>
        </p:nvSpPr>
        <p:spPr>
          <a:xfrm>
            <a:off x="457200" y="1301430"/>
            <a:ext cx="8229600" cy="4824733"/>
          </a:xfrm>
          <a:prstGeom prst="rect">
            <a:avLst/>
          </a:prstGeom>
        </p:spPr>
        <p:txBody>
          <a:bodyPr/>
          <a:lstStyle/>
          <a:p>
            <a:pPr marL="0" indent="0" algn="ctr">
              <a:spcBef>
                <a:spcPts val="0"/>
              </a:spcBef>
              <a:buSzTx/>
              <a:buFontTx/>
              <a:buNone/>
              <a:defRPr b="1" sz="1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μ-Serve: A Power-aware Model Serving Framework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Modern model serving systems focus more on latency and throughput but μ-Serve introduces a different perspective :” </a:t>
            </a:r>
            <a:r>
              <a:rPr b="1"/>
              <a:t>power as a first-class concern</a:t>
            </a:r>
            <a:r>
              <a:t>.”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At a high level, μ-Serve is designed to: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reduce energy consumption in GPU clusters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maintain strict latency SLOs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intelligently adapt to workload behavior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 system is structured into two major phases: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an </a:t>
            </a:r>
            <a:r>
              <a:rPr b="1"/>
              <a:t>offline phase</a:t>
            </a:r>
            <a:r>
              <a:t> for preparation and optimization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an </a:t>
            </a:r>
            <a:r>
              <a:rPr b="1"/>
              <a:t>online phase</a:t>
            </a:r>
            <a:r>
              <a:t> for real-time decision making</a:t>
            </a:r>
          </a:p>
        </p:txBody>
      </p:sp>
      <p:pic>
        <p:nvPicPr>
          <p:cNvPr id="125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126891" y="2875362"/>
            <a:ext cx="5086614" cy="30042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Offline Phase (Design-time Optimization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23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Offline Phase (Design-time Optimization)</a:t>
            </a:r>
          </a:p>
        </p:txBody>
      </p:sp>
      <p:sp>
        <p:nvSpPr>
          <p:cNvPr id="128" name="Building the Foundation Before Execution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algn="ctr">
              <a:spcBef>
                <a:spcPts val="1200"/>
              </a:spcBef>
              <a:buSzTx/>
              <a:buFontTx/>
              <a:buNone/>
              <a:defRPr b="1" sz="1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Building the Foundation Before Execution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b="1" sz="1200">
                <a:latin typeface="Times Roman"/>
                <a:ea typeface="Times Roman"/>
                <a:cs typeface="Times Roman"/>
                <a:sym typeface="Times Roman"/>
              </a:defRPr>
            </a:pPr>
            <a:endParaRPr b="0"/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Before serving begins, μ-Serve performs detailed analysis of models and hardware.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It starts by profiling </a:t>
            </a:r>
            <a:r>
              <a:rPr b="1"/>
              <a:t>primitive operators</a:t>
            </a:r>
            <a:r>
              <a:t>, measuring how sensitive each one is to GPU frequency changes.</a:t>
            </a:r>
            <a:br/>
            <a:r>
              <a:t>This sensitivity becomes the key signal for later decisions.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Using this information, the system: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partitions models into smaller components based on behavior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avoids mixing operators with very different sensitivities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places these partitions across GPUs in a way that maximizes flexibility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 result is a deployment plan that is already optimized for </a:t>
            </a:r>
            <a:r>
              <a:rPr b="1"/>
              <a:t>power-aware execution</a:t>
            </a:r>
            <a:r>
              <a:t>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Online Phase (Runtime Adaptation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23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Online Phase (Runtime Adaptation)</a:t>
            </a:r>
          </a:p>
        </p:txBody>
      </p:sp>
      <p:sp>
        <p:nvSpPr>
          <p:cNvPr id="131" name="Adapting to Workloads in Real Tim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algn="ctr">
              <a:spcBef>
                <a:spcPts val="1200"/>
              </a:spcBef>
              <a:buSzTx/>
              <a:buFontTx/>
              <a:buNone/>
              <a:defRPr b="1" sz="1500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Adapting to Workloads in Real Time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Once the system is live, μ-Serve continuously reacts to incoming requests.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Instead of treating all requests equally, it: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schedules them intelligently based on expected execution time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monitors latency against SLO targets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dynamically adjusts GPU frequency at runtime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When the system detects slack in latency:  it reduces </a:t>
            </a:r>
            <a:r>
              <a:rPr b="1" u="sng"/>
              <a:t>GPU frequency</a:t>
            </a:r>
            <a:r>
              <a:t> to save power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When latency is at risk  it scales </a:t>
            </a:r>
            <a:r>
              <a:rPr b="1"/>
              <a:t>frequency</a:t>
            </a:r>
            <a:r>
              <a:t> back up </a:t>
            </a:r>
            <a:r>
              <a:rPr u="sng"/>
              <a:t>immediately.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This continuous feedback loop allows μ-Serve to balance </a:t>
            </a:r>
            <a:r>
              <a:rPr b="1"/>
              <a:t>efficiency and performance without manual tuning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Operator Sensitivity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23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Operator Sensitivity</a:t>
            </a:r>
          </a:p>
        </p:txBody>
      </p:sp>
      <p:sp>
        <p:nvSpPr>
          <p:cNvPr id="134" name="Understanding Operator Sensitivity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algn="ctr">
              <a:spcBef>
                <a:spcPts val="1200"/>
              </a:spcBef>
              <a:buSzTx/>
              <a:buFontTx/>
              <a:buNone/>
              <a:defRPr b="1" sz="16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Understanding Operator Sensitivity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b="1" sz="1200">
                <a:latin typeface="Times Roman"/>
                <a:ea typeface="Times Roman"/>
                <a:cs typeface="Times Roman"/>
                <a:sym typeface="Times Roman"/>
              </a:defRPr>
            </a:pPr>
            <a:endParaRPr b="0"/>
          </a:p>
          <a:p>
            <a:pPr marL="0" indent="0">
              <a:spcBef>
                <a:spcPts val="1200"/>
              </a:spcBef>
              <a:buSzTx/>
              <a:buFontTx/>
              <a:buNone/>
              <a:defRPr b="1"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A central observation in this work is that </a:t>
            </a:r>
            <a:r>
              <a:t>not all parts of a model behave the same way</a:t>
            </a:r>
            <a:r>
              <a:rPr b="0"/>
              <a:t>.</a:t>
            </a:r>
            <a:endParaRPr b="0"/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When GPU frequency is reduced: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some operators show a significant increase in latency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others remain relatively unaffected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Interestingly, operators that are less sensitive often contribute less to the overall execution time of a request.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This means that treating the model as a uniform block leads to unnecessary power usage.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urning Insight into Strategy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2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Turning Insight into Strategy</a:t>
            </a:r>
          </a:p>
        </p:txBody>
      </p:sp>
      <p:sp>
        <p:nvSpPr>
          <p:cNvPr id="137" name="From Observation to Optimisation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spcBef>
                <a:spcPts val="1200"/>
              </a:spcBef>
              <a:buSzTx/>
              <a:buFontTx/>
              <a:buNone/>
              <a:defRPr b="1" sz="1200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t>From Observation to Optimisation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μ-Serve leverages this variation by reorganising how models are deployed.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Instead of randomly partitioning models: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it groups operators with similar sensitivity together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ensures each GPU handles workloads with comparable behaviour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This avoids a common inefficiency where: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 single sensitive component forces the entire GPU</a:t>
            </a:r>
            <a:br/>
            <a:r>
              <a:t>to operate at a higher frequency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By aligning workloads with similar characteristics, μ-Serve enables more aggressive and safe power reduction.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cheduling + Prediction (μ-Serve Intelligence Layer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2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Scheduling + Prediction (μ-Serve Intelligence Layer)</a:t>
            </a:r>
          </a:p>
        </p:txBody>
      </p:sp>
      <p:sp>
        <p:nvSpPr>
          <p:cNvPr id="140" name="Why Scheduling Becomes a Problem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algn="ctr">
              <a:spcBef>
                <a:spcPts val="1400"/>
              </a:spcBef>
              <a:buSzTx/>
              <a:buFontTx/>
              <a:buNone/>
              <a:defRPr b="1" sz="1700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t>Why Scheduling Becomes a Problem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 Hidden Issue: Unpredictable Request Execution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In model serving, especially with generative models, requests do not take the same amount of time to complete.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This is because: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responses are generated token by token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longer outputs directly increase execution time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Even for the same model, two requests can behave very differently.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This variability creates a major issue: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traditional scheduling like FCFS (First Come First Serve)</a:t>
            </a:r>
            <a:br/>
            <a:r>
              <a:t>leads to </a:t>
            </a:r>
            <a:r>
              <a:rPr b="1"/>
              <a:t>head-of-line blocking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shorter requests get stuck behind longer ones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As a result, both latency and power efficiency suffer.</a:t>
            </a:r>
          </a:p>
        </p:txBody>
      </p:sp>
      <p:pic>
        <p:nvPicPr>
          <p:cNvPr id="141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670451" y="3116860"/>
            <a:ext cx="4051301" cy="25908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μ-Serve’s Scheduling Idea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1" sz="23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μ-Serve’s Scheduling Idea</a:t>
            </a:r>
          </a:p>
        </p:txBody>
      </p:sp>
      <p:sp>
        <p:nvSpPr>
          <p:cNvPr id="144" name="Smarter Scheduling with Prediction…"/>
          <p:cNvSpPr txBox="1"/>
          <p:nvPr>
            <p:ph type="body" idx="1"/>
          </p:nvPr>
        </p:nvSpPr>
        <p:spPr>
          <a:xfrm>
            <a:off x="457200" y="1334923"/>
            <a:ext cx="8229600" cy="4791240"/>
          </a:xfrm>
          <a:prstGeom prst="rect">
            <a:avLst/>
          </a:prstGeom>
        </p:spPr>
        <p:txBody>
          <a:bodyPr/>
          <a:lstStyle/>
          <a:p>
            <a:pPr marL="0" indent="0" algn="ctr">
              <a:spcBef>
                <a:spcPts val="1200"/>
              </a:spcBef>
              <a:buSzTx/>
              <a:buFontTx/>
              <a:buNone/>
              <a:defRPr b="1" sz="1500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Smarter Scheduling with Prediction</a:t>
            </a:r>
            <a:endParaRPr b="0"/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To overcome this, μ-Serve introduces a </a:t>
            </a:r>
            <a:r>
              <a:rPr b="1"/>
              <a:t>Speculative Shortest-Job-First (SSJF)</a:t>
            </a:r>
            <a:r>
              <a:t> approach.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Instead of executing requests blindly: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 system first estimates how long each request will take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then prioritises shorter jobs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This improves: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overall latency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system throughput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and indirectly creates more opportunities for power saving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i="1" sz="1200">
                <a:latin typeface="Times Roman"/>
                <a:ea typeface="Times Roman"/>
                <a:cs typeface="Times Roman"/>
                <a:sym typeface="Times Roman"/>
              </a:defRPr>
            </a:pPr>
            <a:endParaRPr i="0"/>
          </a:p>
          <a:p>
            <a:pPr marL="0" indent="0">
              <a:spcBef>
                <a:spcPts val="1200"/>
              </a:spcBef>
              <a:buSzTx/>
              <a:buFontTx/>
              <a:buNone/>
              <a:defRPr i="1"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i="0"/>
              <a:t>The key challenge here is: </a:t>
            </a:r>
            <a:r>
              <a:rPr b="1" i="0" u="sng"/>
              <a:t>How do we know the job length before executing it?</a:t>
            </a:r>
          </a:p>
        </p:txBody>
      </p:sp>
      <p:pic>
        <p:nvPicPr>
          <p:cNvPr id="145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89245" y="4708270"/>
            <a:ext cx="4768320" cy="196155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Output Length Predictor"/>
          <p:cNvSpPr txBox="1"/>
          <p:nvPr>
            <p:ph type="title"/>
          </p:nvPr>
        </p:nvSpPr>
        <p:spPr>
          <a:xfrm>
            <a:off x="457199" y="-44841"/>
            <a:ext cx="8229601" cy="1143001"/>
          </a:xfrm>
          <a:prstGeom prst="rect">
            <a:avLst/>
          </a:prstGeom>
        </p:spPr>
        <p:txBody>
          <a:bodyPr/>
          <a:lstStyle>
            <a:lvl1pPr>
              <a:defRPr b="1" sz="25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Output Length Predictor</a:t>
            </a:r>
          </a:p>
        </p:txBody>
      </p:sp>
      <p:sp>
        <p:nvSpPr>
          <p:cNvPr id="148" name="Predicting Execution Time Before It Happens…"/>
          <p:cNvSpPr txBox="1"/>
          <p:nvPr>
            <p:ph type="body" idx="1"/>
          </p:nvPr>
        </p:nvSpPr>
        <p:spPr>
          <a:xfrm>
            <a:off x="457200" y="986008"/>
            <a:ext cx="8229600" cy="4885984"/>
          </a:xfrm>
          <a:prstGeom prst="rect">
            <a:avLst/>
          </a:prstGeom>
        </p:spPr>
        <p:txBody>
          <a:bodyPr/>
          <a:lstStyle/>
          <a:p>
            <a:pPr marL="0" indent="0" algn="ctr">
              <a:spcBef>
                <a:spcPts val="1200"/>
              </a:spcBef>
              <a:buSzTx/>
              <a:buFontTx/>
              <a:buNone/>
              <a:defRPr b="1" sz="1500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Predicting Execution Time Before It Happens</a:t>
            </a:r>
          </a:p>
          <a:p>
            <a:pPr marL="0" indent="0" algn="ctr">
              <a:spcBef>
                <a:spcPts val="1200"/>
              </a:spcBef>
              <a:buSzTx/>
              <a:buFontTx/>
              <a:buNone/>
              <a:defRPr b="1" sz="1500" u="sng">
                <a:latin typeface="Times Roman"/>
                <a:ea typeface="Times Roman"/>
                <a:cs typeface="Times Roman"/>
                <a:sym typeface="Times Roman"/>
              </a:defRPr>
            </a:pPr>
            <a:endParaRPr b="0"/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μ-Serve solves this using a </a:t>
            </a:r>
            <a:r>
              <a:rPr b="1"/>
              <a:t>lightweight proxy model</a:t>
            </a:r>
            <a:r>
              <a:t>.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Instead of running the full model: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 smaller model (based on BERT) is used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it predicts the expected output length of a request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Since execution time is roughly proportional to output length, this prediction becomes a strong estimate of job duration.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To simplify prediction: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outputs are grouped into ranges (like short, medium, long)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instead of predicting exact token counts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This makes the system both </a:t>
            </a:r>
            <a:r>
              <a:rPr u="sng"/>
              <a:t>efficient</a:t>
            </a:r>
            <a:r>
              <a:t> and </a:t>
            </a:r>
            <a:r>
              <a:rPr u="sng"/>
              <a:t>practical</a:t>
            </a:r>
            <a:r>
              <a:t>!.</a:t>
            </a:r>
          </a:p>
        </p:txBody>
      </p:sp>
      <p:pic>
        <p:nvPicPr>
          <p:cNvPr id="14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330141" y="4122020"/>
            <a:ext cx="4749191" cy="24764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Making Prediction More Reliab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25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Making Prediction More Reliable</a:t>
            </a:r>
          </a:p>
        </p:txBody>
      </p:sp>
      <p:sp>
        <p:nvSpPr>
          <p:cNvPr id="152" name="Improving Accuracy with Smart Trick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algn="ctr">
              <a:spcBef>
                <a:spcPts val="1200"/>
              </a:spcBef>
              <a:buSzTx/>
              <a:buFontTx/>
              <a:buNone/>
              <a:defRPr b="1" sz="1500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Improving Accuracy with Smart Tricks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Prediction alone is not always enough, so μ-Serve adds a few enhancements.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First, it uses a </a:t>
            </a:r>
            <a:r>
              <a:rPr b="1"/>
              <a:t>semantic cache</a:t>
            </a:r>
            <a:r>
              <a:t>: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if a similar request was seen before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 system reuses the known output length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Second, it combines: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prediction for new inputs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cached values for repeated inputs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This hybrid approach: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improves scheduling accuracy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reduces unnecessary computation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Overall, scheduling becomes more predictable, which directly helps in better power management.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PU Frequency Scaling (Core Mechanism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23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GPU Frequency Scaling (Core Mechanism)</a:t>
            </a:r>
          </a:p>
        </p:txBody>
      </p:sp>
      <p:sp>
        <p:nvSpPr>
          <p:cNvPr id="155" name="Why Frequency Scaling Matter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algn="ctr">
              <a:spcBef>
                <a:spcPts val="1400"/>
              </a:spcBef>
              <a:buSzTx/>
              <a:buFontTx/>
              <a:buNone/>
              <a:defRPr b="1" sz="1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Why Frequency Scaling Matters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Turning Power into a Controllable Variable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b="1" sz="1200">
                <a:latin typeface="Times Roman"/>
                <a:ea typeface="Times Roman"/>
                <a:cs typeface="Times Roman"/>
                <a:sym typeface="Times Roman"/>
              </a:defRPr>
            </a:pPr>
            <a:endParaRPr b="0"/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GPU frequency directly influences both performance and power consumption. Higher frequency improves latency, but it also increases power usage almost linearly.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However, model-serving workloads do not always require peak performance.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There are many situations where: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latency is well within SLO limits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GPUs are effectively over-provisioned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This creates an opportunity to:</a:t>
            </a:r>
            <a:br/>
            <a:r>
              <a:t>reduce frequency → save power → without hurting performance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 challenge is doing this </a:t>
            </a:r>
            <a:r>
              <a:rPr b="1"/>
              <a:t>safely and dynamically</a:t>
            </a:r>
            <a:r>
              <a:t>, since workloads continuously change.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How μ-Serve Adjusts Frequency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1" sz="2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How μ-Serve Adjusts Frequency</a:t>
            </a:r>
          </a:p>
        </p:txBody>
      </p:sp>
      <p:sp>
        <p:nvSpPr>
          <p:cNvPr id="158" name="Feedback-driven Frequency Control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algn="ctr">
              <a:spcBef>
                <a:spcPts val="1200"/>
              </a:spcBef>
              <a:buSzTx/>
              <a:buFontTx/>
              <a:buNone/>
              <a:defRPr b="1" sz="1600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t>Feedback-driven Frequency Control</a:t>
            </a:r>
          </a:p>
          <a:p>
            <a:pPr marL="0" indent="0" algn="ctr">
              <a:spcBef>
                <a:spcPts val="1200"/>
              </a:spcBef>
              <a:buSzTx/>
              <a:buFontTx/>
              <a:buNone/>
              <a:defRPr b="1" sz="1600" u="sng">
                <a:latin typeface="Times Roman"/>
                <a:ea typeface="Times Roman"/>
                <a:cs typeface="Times Roman"/>
                <a:sym typeface="Times Roman"/>
              </a:defRPr>
            </a:pPr>
            <a:endParaRPr b="0"/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μ-Serve continuously monitors how each model performs with respect to its latency SLO.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For every model partition, it calculates a value called </a:t>
            </a:r>
            <a:r>
              <a:rPr b="1"/>
              <a:t>latency slack</a:t>
            </a:r>
            <a:r>
              <a:t>: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If slack is small or negative → system is close to violating SLO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If slack is large → there is room to reduce frequency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Based on this observation: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frequency is increased when performance is at risk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frequency is decreased when there is safe margin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This creates a feedback loop where the system constantly adapts to maintain balance between power and performance.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MIAD Strategy The Key Idea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1" sz="23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MIAD Strategy The Key Idea</a:t>
            </a:r>
          </a:p>
        </p:txBody>
      </p:sp>
      <p:sp>
        <p:nvSpPr>
          <p:cNvPr id="161" name="Conservative Down, Aggressive Up…"/>
          <p:cNvSpPr txBox="1"/>
          <p:nvPr>
            <p:ph type="body" idx="1"/>
          </p:nvPr>
        </p:nvSpPr>
        <p:spPr>
          <a:xfrm>
            <a:off x="457200" y="1394589"/>
            <a:ext cx="8229600" cy="4731574"/>
          </a:xfrm>
          <a:prstGeom prst="rect">
            <a:avLst/>
          </a:prstGeom>
        </p:spPr>
        <p:txBody>
          <a:bodyPr/>
          <a:lstStyle/>
          <a:p>
            <a:pPr marL="0" indent="0" algn="ctr">
              <a:spcBef>
                <a:spcPts val="1200"/>
              </a:spcBef>
              <a:buSzTx/>
              <a:buFontTx/>
              <a:buNone/>
              <a:defRPr b="1" sz="1800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Conservative Down, Aggressive Up</a:t>
            </a:r>
            <a:endParaRPr b="0"/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μ-Serve uses a strategy inspired by network congestion control, called </a:t>
            </a:r>
            <a:r>
              <a:rPr b="1"/>
              <a:t>Multiplicative Increase, Additive Decrease (MIAD)</a:t>
            </a:r>
            <a:r>
              <a:t>.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 behavior is intentionally asymmetric: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When increasing frequency:</a:t>
            </a:r>
            <a:br/>
            <a:r>
              <a:t>→ the system reacts aggressively</a:t>
            </a:r>
            <a:br/>
            <a:r>
              <a:t>→ frequency is doubled quickly to avoid SLO violations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When decreasing frequency:</a:t>
            </a:r>
            <a:br/>
            <a:r>
              <a:t>→ the system acts cautiously</a:t>
            </a:r>
            <a:br/>
            <a:r>
              <a:t>→ frequency is reduced gradually in small steps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This design ensures: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quick recovery from performance issues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safe and stable power reduction</a:t>
            </a:r>
          </a:p>
          <a:p>
            <a:pPr marL="0" indent="0">
              <a:spcBef>
                <a:spcPts val="0"/>
              </a:spcBef>
              <a:buSzTx/>
              <a:buFontTx/>
              <a:buNone/>
              <a:defRPr sz="1200">
                <a:solidFill>
                  <a:srgbClr val="80808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>
              <a:spcBef>
                <a:spcPts val="1400"/>
              </a:spcBef>
              <a:buSzTx/>
              <a:buFontTx/>
              <a:buNone/>
              <a:defRPr b="1" sz="1800"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Why This Works Wel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1" sz="2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Why This Works Well</a:t>
            </a:r>
          </a:p>
        </p:txBody>
      </p:sp>
      <p:sp>
        <p:nvSpPr>
          <p:cNvPr id="164" name="Stability + Efficiency Together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algn="ctr">
              <a:spcBef>
                <a:spcPts val="1200"/>
              </a:spcBef>
              <a:buSzTx/>
              <a:buFontTx/>
              <a:buNone/>
              <a:defRPr b="1" sz="1600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Stability + Efficiency Together</a:t>
            </a:r>
            <a:endParaRPr b="0"/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This approach is effective because it aligns with workload behaviour.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sudden spikes in demand require fast response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but power saving should not introduce instability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By combining monitoring with adaptive scaling, μ-Serve achieves: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consistent SLO satisfaction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reduced energy consumption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minimal oscillations in system behaviour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Another important aspect is that scaling decisions are made </a:t>
            </a:r>
            <a:r>
              <a:rPr b="1"/>
              <a:t>per GPU device</a:t>
            </a:r>
            <a:r>
              <a:t>, considering all model partitions running on it.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This ensures that frequency changes reflect actual workload conditions.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Evaluation &amp; Results (Impact Section)"/>
          <p:cNvSpPr txBox="1"/>
          <p:nvPr>
            <p:ph type="title"/>
          </p:nvPr>
        </p:nvSpPr>
        <p:spPr>
          <a:xfrm>
            <a:off x="457200" y="119215"/>
            <a:ext cx="8229600" cy="1143001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="1" sz="2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Evaluation &amp; Results (Impact Section)</a:t>
            </a:r>
          </a:p>
        </p:txBody>
      </p:sp>
      <p:sp>
        <p:nvSpPr>
          <p:cNvPr id="167" name="Experimental Setup (Context Before Results)…"/>
          <p:cNvSpPr txBox="1"/>
          <p:nvPr>
            <p:ph type="body" idx="1"/>
          </p:nvPr>
        </p:nvSpPr>
        <p:spPr>
          <a:xfrm>
            <a:off x="457200" y="1358432"/>
            <a:ext cx="8229601" cy="4525964"/>
          </a:xfrm>
          <a:prstGeom prst="rect">
            <a:avLst/>
          </a:prstGeom>
        </p:spPr>
        <p:txBody>
          <a:bodyPr/>
          <a:lstStyle/>
          <a:p>
            <a:pPr marL="0" indent="0" algn="ctr">
              <a:spcBef>
                <a:spcPts val="1400"/>
              </a:spcBef>
              <a:buSzTx/>
              <a:buFontTx/>
              <a:buNone/>
              <a:defRPr b="1" sz="1800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Experimental Setup (Context Before Results)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t>How μ-Serve Was Evaluated?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To evaluate μ-Serve, experiments were conducted on a GPU cluster with real-world workloads and diverse deep learning models.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 setup includes: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an 8-node cluster with 16 GPUs (NVIDIA V100)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 mix of models: CNNs, Transformers, and generative models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real workload traces from Azure and production datacenters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Each model has different: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size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latency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execution characteristics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This diversity ensures the evaluation reflects </a:t>
            </a:r>
            <a:r>
              <a:rPr b="1"/>
              <a:t>real deployment scenarios</a:t>
            </a:r>
            <a:r>
              <a:t>.</a:t>
            </a:r>
          </a:p>
        </p:txBody>
      </p:sp>
      <p:pic>
        <p:nvPicPr>
          <p:cNvPr id="168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119952" y="2725679"/>
            <a:ext cx="4102101" cy="36322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ower Savings (Main Result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1" sz="23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Power Savings (Main Result)</a:t>
            </a:r>
          </a:p>
        </p:txBody>
      </p:sp>
      <p:sp>
        <p:nvSpPr>
          <p:cNvPr id="171" name="How Much Power Can Be Saved?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algn="ctr">
              <a:spcBef>
                <a:spcPts val="1200"/>
              </a:spcBef>
              <a:buSzTx/>
              <a:buFontTx/>
              <a:buNone/>
              <a:defRPr b="1" sz="1600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t>How Much Power Can Be Saved?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b="1" sz="1200">
                <a:latin typeface="Times Roman"/>
                <a:ea typeface="Times Roman"/>
                <a:cs typeface="Times Roman"/>
                <a:sym typeface="Times Roman"/>
              </a:defRPr>
            </a:pPr>
            <a:endParaRPr b="0"/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 most important result is the reduction in power consumption while maintaining performance.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Observations from the graph: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μ-Serve consistently reduces power across different scenarios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savings range from </a:t>
            </a:r>
            <a:r>
              <a:rPr b="1"/>
              <a:t>1.5× to 2.6×</a:t>
            </a:r>
            <a:r>
              <a:t> depending on workload conditions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greater savings occur when:</a:t>
            </a:r>
          </a:p>
          <a:p>
            <a:pPr lvl="1" marL="914400" indent="-317500">
              <a:spcBef>
                <a:spcPts val="0"/>
              </a:spcBef>
              <a:buFont typeface="Times Roman"/>
              <a:buChar char="◦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SLO constraints are less strict</a:t>
            </a:r>
          </a:p>
          <a:p>
            <a:pPr lvl="1" marL="914400" indent="-317500">
              <a:spcBef>
                <a:spcPts val="0"/>
              </a:spcBef>
              <a:buFont typeface="Times Roman"/>
              <a:buChar char="◦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system load is lower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This shows that μ-Serve effectively utilises </a:t>
            </a:r>
            <a:r>
              <a:rPr b="1"/>
              <a:t>unused performance headroom to save energy</a:t>
            </a:r>
            <a:r>
              <a:t>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6293" y="964648"/>
            <a:ext cx="9176586" cy="448257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Maintaining Performance (SLO Analysis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1" sz="23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Maintaining Performance (SLO Analysis)</a:t>
            </a:r>
          </a:p>
        </p:txBody>
      </p:sp>
      <p:sp>
        <p:nvSpPr>
          <p:cNvPr id="176" name="Does Power Saving Hurt Performance?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algn="ctr">
              <a:spcBef>
                <a:spcPts val="1200"/>
              </a:spcBef>
              <a:buSzTx/>
              <a:buFontTx/>
              <a:buNone/>
              <a:defRPr b="1" sz="1600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t>Does Power Saving Hurt Performance?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Power reduction is only useful if performance remains acceptable.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From the results: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μ-Serve maintains </a:t>
            </a:r>
            <a:r>
              <a:rPr b="1"/>
              <a:t>99% SLO attainment</a:t>
            </a:r>
            <a:r>
              <a:t> in most cases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latency increase is minimal (around 2–9%)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in some cases, scheduling even improves latency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This demonstrates that: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power savings are achieved </a:t>
            </a:r>
            <a:r>
              <a:rPr b="1"/>
              <a:t>without violating user-facing requirements</a:t>
            </a:r>
          </a:p>
        </p:txBody>
      </p:sp>
      <p:pic>
        <p:nvPicPr>
          <p:cNvPr id="177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24083" y="4269717"/>
            <a:ext cx="4947451" cy="242645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25764" y="1132909"/>
            <a:ext cx="6737441" cy="398121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Key Takeaways from Evalua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1" sz="2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Key Takeaways from Evaluation</a:t>
            </a:r>
          </a:p>
        </p:txBody>
      </p:sp>
      <p:sp>
        <p:nvSpPr>
          <p:cNvPr id="182" name="What Do We Learn from the Results?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algn="ctr">
              <a:spcBef>
                <a:spcPts val="1200"/>
              </a:spcBef>
              <a:buSzTx/>
              <a:buFontTx/>
              <a:buNone/>
              <a:defRPr b="1" sz="1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What Do We Learn from the Results? </a:t>
            </a:r>
            <a:endParaRPr b="0"/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 evaluation highlights three important conclusions: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First</a:t>
            </a:r>
            <a:r>
              <a:t>, dynamic GPU frequency scaling alone already saves power, but combining it with intelligent scheduling and placement gives significantly better results.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Second</a:t>
            </a:r>
            <a:r>
              <a:t>, workload characteristics matter: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relaxed SLOs → more power-saving opportunities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higher load → tighter constraints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Finally, μ-Serve shows that: power optimisation is not a trade-off with performance but can be achieved through </a:t>
            </a:r>
            <a:r>
              <a:rPr b="1"/>
              <a:t>system-level coordination.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Conclus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1" sz="28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Conclusion</a:t>
            </a:r>
          </a:p>
        </p:txBody>
      </p:sp>
      <p:sp>
        <p:nvSpPr>
          <p:cNvPr id="185" name="Final Thought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algn="ctr">
              <a:spcBef>
                <a:spcPts val="1200"/>
              </a:spcBef>
              <a:buSzTx/>
              <a:buFontTx/>
              <a:buNone/>
              <a:defRPr b="1" sz="1600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t>Final Thoughts</a:t>
            </a:r>
            <a:endParaRPr b="0"/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μ-Serve introduces a new way of thinking about model serving: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Instead of maximising performance alone, it balances </a:t>
            </a:r>
            <a:r>
              <a:rPr b="1"/>
              <a:t>power, latency, and system behaviour together</a:t>
            </a:r>
            <a:r>
              <a:t>.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By combining: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operator-level insights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intelligent scheduling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dynamic frequency scaling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it achieves: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significant energy savings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stable performance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better resource utilisation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This work highlights that future AI systems must be designed not just for speed, but also for </a:t>
            </a:r>
            <a:r>
              <a:rPr b="1"/>
              <a:t>efficiency at scale</a:t>
            </a:r>
            <a:r>
              <a:t>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